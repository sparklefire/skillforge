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charts/chart1.xml" ContentType="application/vnd.openxmlformats-officedocument.drawingml.char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ee15f2c8e4a4307" Type="http://schemas.openxmlformats.org/package/2006/relationships/metadata/core-properties" Target="docProps/core.xml"/><Relationship Id="R36ed2fe38dc74f6c" Type="http://schemas.openxmlformats.org/officeDocument/2006/relationships/extended-properties" Target="docProps/app.xml"/><Relationship Id="Rd76653722c884394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342bd4206c3467c"/>
  </p:sldMasterIdLst>
  <p:notesMasterIdLst>
    <p:notesMasterId xmlns:r="http://schemas.openxmlformats.org/officeDocument/2006/relationships" r:id="R4a322b5eec724537"/>
  </p:notesMasterIdLst>
  <p:sldIdLst>
    <p:sldId xmlns:r="http://schemas.openxmlformats.org/officeDocument/2006/relationships" id="256" r:id="R4fb40a13326b4335"/>
    <p:sldId xmlns:r="http://schemas.openxmlformats.org/officeDocument/2006/relationships" id="257" r:id="Rf0fd016a60b5407a"/>
    <p:sldId xmlns:r="http://schemas.openxmlformats.org/officeDocument/2006/relationships" id="258" r:id="Re84f2a3c2e974605"/>
    <p:sldId xmlns:r="http://schemas.openxmlformats.org/officeDocument/2006/relationships" id="259" r:id="R8f83a39b1a6a4158"/>
    <p:sldId xmlns:r="http://schemas.openxmlformats.org/officeDocument/2006/relationships" id="260" r:id="Rea99ca689fa74467"/>
    <p:sldId xmlns:r="http://schemas.openxmlformats.org/officeDocument/2006/relationships" id="261" r:id="R98a55d8491474ae6"/>
    <p:sldId xmlns:r="http://schemas.openxmlformats.org/officeDocument/2006/relationships" id="262" r:id="R88c28f5695654254"/>
    <p:sldId xmlns:r="http://schemas.openxmlformats.org/officeDocument/2006/relationships" id="263" r:id="R33a1c2f68de24d6c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113c5e433bd749a4" Type="http://schemas.openxmlformats.org/officeDocument/2006/relationships/viewProps" Target="viewProps.xml"/><Relationship Id="R147fd746a4254585" Type="http://schemas.openxmlformats.org/officeDocument/2006/relationships/tableStyles" Target="tableStyles.xml"/><Relationship Id="R175fd617125d4960" Type="http://schemas.openxmlformats.org/officeDocument/2006/relationships/theme" Target="theme/theme1.xml"/><Relationship Id="R33a1c2f68de24d6c" Type="http://schemas.openxmlformats.org/officeDocument/2006/relationships/slide" Target="slides/slide8.xml"/><Relationship Id="R4a322b5eec724537" Type="http://schemas.openxmlformats.org/officeDocument/2006/relationships/notesMaster" Target="notesMasters/notesMaster1.xml"/><Relationship Id="R4fb40a13326b4335" Type="http://schemas.openxmlformats.org/officeDocument/2006/relationships/slide" Target="slides/slide1.xml"/><Relationship Id="R7342bd4206c3467c" Type="http://schemas.openxmlformats.org/officeDocument/2006/relationships/slideMaster" Target="slideMasters/slideMaster1.xml"/><Relationship Id="R88c28f5695654254" Type="http://schemas.openxmlformats.org/officeDocument/2006/relationships/slide" Target="slides/slide7.xml"/><Relationship Id="R8f83a39b1a6a4158" Type="http://schemas.openxmlformats.org/officeDocument/2006/relationships/slide" Target="slides/slide4.xml"/><Relationship Id="R98a55d8491474ae6" Type="http://schemas.openxmlformats.org/officeDocument/2006/relationships/slide" Target="slides/slide6.xml"/><Relationship Id="Re84f2a3c2e974605" Type="http://schemas.openxmlformats.org/officeDocument/2006/relationships/slide" Target="slides/slide3.xml"/><Relationship Id="Rea99ca689fa74467" Type="http://schemas.openxmlformats.org/officeDocument/2006/relationships/slide" Target="slides/slide5.xml"/><Relationship Id="Rf0fd016a60b5407a" Type="http://schemas.openxmlformats.org/officeDocument/2006/relationships/slide" Target="slides/slide2.xml"/><Relationship Id="Rf93a369fe80e4052" Type="http://schemas.openxmlformats.org/officeDocument/2006/relationships/presProps" Target="presProps.xml"/></Relationships>
</file>

<file path=ppt/notesMasters/_rels/notesMaster1.xml.rels><?xml version='1.0' encoding='UTF-8' standalone='yes'?>
<Relationships xmlns="http://schemas.openxmlformats.org/package/2006/relationships"><Relationship Id="R98697d5819784fcc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1fe2feeb2b174cea" Type="http://schemas.openxmlformats.org/officeDocument/2006/relationships/slide" Target="../slides/slide1.xml"/><Relationship Id="R642edbe4f3ca4d7e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195aeadb0d074ef0" Type="http://schemas.openxmlformats.org/officeDocument/2006/relationships/notesMaster" Target="../notesMasters/notesMaster1.xml"/><Relationship Id="Rf848fbf75ee24718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22efd760971f4292" Type="http://schemas.openxmlformats.org/officeDocument/2006/relationships/slide" Target="../slides/slide3.xml"/><Relationship Id="Rcea59b5dc24146af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66369fdd753f4fbd" Type="http://schemas.openxmlformats.org/officeDocument/2006/relationships/slide" Target="../slides/slide4.xml"/><Relationship Id="R806e570031f44845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66708ab719004a2b" Type="http://schemas.openxmlformats.org/officeDocument/2006/relationships/slide" Target="../slides/slide5.xml"/><Relationship Id="R806bb498250b4145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36074bec32f54ee9" Type="http://schemas.openxmlformats.org/officeDocument/2006/relationships/notesMaster" Target="../notesMasters/notesMaster1.xml"/><Relationship Id="R9a72b4d713ee437e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619ab0c008964d4f" Type="http://schemas.openxmlformats.org/officeDocument/2006/relationships/slide" Target="../slides/slide7.xml"/><Relationship Id="Rd7c8b47364434c69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1bf6f9b021124a8b" Type="http://schemas.openxmlformats.org/officeDocument/2006/relationships/notesMaster" Target="../notesMasters/notesMaster1.xml"/><Relationship Id="R357db3e28d3e454a" Type="http://schemas.openxmlformats.org/officeDocument/2006/relationships/slide" Target="../slides/slide8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【第1段 · 开场 · 0-20秒 · 本页停留约10秒】</a:t>
            </a:r>
          </a:p>
          <a:p xmlns:a="http://schemas.openxmlformats.org/drawingml/2006/main"/>
          <a:p xmlns:a="http://schemas.openxmlformats.org/drawingml/2006/main">
            <a:r>
              <a:t>大家好，我们是星星之火。今天带来的作品叫 SkillForge——匠传。</a:t>
            </a:r>
          </a:p>
          <a:p xmlns:a="http://schemas.openxmlformats.org/drawingml/2006/main"/>
          <a:p xmlns:a="http://schemas.openxmlformats.org/drawingml/2006/main">
            <a:r>
              <a:t>我们想解决一个问题：关键操作经验散落在视频、手册和老师傅口述里，人员一流动，知识就失真。SkillForge 要做的，是让专家经验变成可追溯、可验证、会自我修订的培训能力。</a:t>
            </a:r>
          </a:p>
          <a:p xmlns:a="http://schemas.openxmlformats.org/drawingml/2006/main"/>
          <a:p xmlns:a="http://schemas.openxmlformats.org/drawingml/2006/main">
            <a:r>
              <a:t>以汉印 N31 换纸为例——看似简单，新手却很容易漏掉导纸夹、介质学习和试印验收，而普通内容生成无法证明每句话从哪里来。</a:t>
            </a:r>
          </a:p>
          <a:p xmlns:a="http://schemas.openxmlformats.org/drawingml/2006/main"/>
          <a:p xmlns:a="http://schemas.openxmlformats.org/drawingml/2006/main">
            <a:r>
              <a:t>【操作】展示封面，然后切到第2页。不操作网页。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【第1段续 + 第2段 · 20-40秒 · 本页停留约15秒】</a:t>
            </a:r>
          </a:p>
          <a:p xmlns:a="http://schemas.openxmlformats.org/drawingml/2006/main"/>
          <a:p xmlns:a="http://schemas.openxmlformats.org/drawingml/2006/main">
            <a:r>
              <a:t>（指向左侧"最容易漏掉的不是大动作"）</a:t>
            </a:r>
          </a:p>
          <a:p xmlns:a="http://schemas.openxmlformats.org/drawingml/2006/main">
            <a:r>
              <a:t>导纸夹宽度与居中、缝标介质学习、试印与完成验收——这三步，老师傅觉得"不用说"，新手觉得"不用学"，直到打印出来全是歪的。</a:t>
            </a:r>
          </a:p>
          <a:p xmlns:a="http://schemas.openxmlformats.org/drawingml/2006/main"/>
          <a:p xmlns:a="http://schemas.openxmlformats.org/drawingml/2006/main">
            <a:r>
              <a:t>（指向右侧三类输入）</a:t>
            </a:r>
          </a:p>
          <a:p xmlns:a="http://schemas.openxmlformats.org/drawingml/2006/main">
            <a:r>
              <a:t>SkillForge 接收三种原料：专家操作视频，绑定时间点；设备 PDF 手册，绑定页码；专家口述录音，绑定时间段。原始敏感素材留在本地，公开演示只用安全派生物。</a:t>
            </a:r>
          </a:p>
          <a:p xmlns:a="http://schemas.openxmlformats.org/drawingml/2006/main"/>
          <a:p xmlns:a="http://schemas.openxmlformats.org/drawingml/2006/main">
            <a:r>
              <a:t>6段自摄视频、2份手册、12段口述，汇成154条 Evidence Catalog——每句话都有出处。</a:t>
            </a:r>
          </a:p>
          <a:p xmlns:a="http://schemas.openxmlformats.org/drawingml/2006/main"/>
          <a:p xmlns:a="http://schemas.openxmlformats.org/drawingml/2006/main">
            <a:r>
              <a:t>【操作】展示三类输入区域，然后切到第3页。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【第2段续 · 本页停留约5秒，快速过渡】</a:t>
            </a:r>
          </a:p>
          <a:p xmlns:a="http://schemas.openxmlformats.org/drawingml/2006/main"/>
          <a:p xmlns:a="http://schemas.openxmlformats.org/drawingml/2006/main">
            <a:r>
              <a:t>五个 Agent，各司其职：Perception 提取证据，SOP 规划步骤，Creator 生成内容，Verifier 质检找茬，Revision 只改出错的地方。</a:t>
            </a:r>
          </a:p>
          <a:p xmlns:a="http://schemas.openxmlformats.org/drawingml/2006/main"/>
          <a:p xmlns:a="http://schemas.openxmlformats.org/drawingml/2006/main">
            <a:r>
              <a:t>注意这个闭环——Verifier 发现问题不是推倒重来，而是精准外科手术：哪里错了改哪里，其余不动。</a:t>
            </a:r>
          </a:p>
          <a:p xmlns:a="http://schemas.openxmlformats.org/drawingml/2006/main"/>
          <a:p xmlns:a="http://schemas.openxmlformats.org/drawingml/2006/main">
            <a:r>
              <a:t>【操作】快速展示后切到浏览器（Web）。Alt+Tab 切换。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【第4段兜底 · 70-110秒 · 仅当Web不可用时展示本页】</a:t>
            </a:r>
          </a:p>
          <a:p xmlns:a="http://schemas.openxmlformats.org/drawingml/2006/main"/>
          <a:p xmlns:a="http://schemas.openxmlformats.org/drawingml/2006/main">
            <a:r>
              <a:t>如果 Web 演示挂了，用这页兜底：</a:t>
            </a:r>
          </a:p>
          <a:p xmlns:a="http://schemas.openxmlformats.org/drawingml/2006/main"/>
          <a:p xmlns:a="http://schemas.openxmlformats.org/drawingml/2006/main">
            <a:r>
              <a:t>Verifier 在 Gold 受控错误集上发现5个严重问题：缺步骤、顺序错误、无依据工具、无依据参数。它引用视频 E039、手册 E104 P20、口述 E148 等多源证据，执行4处局部修订，复检后严重错误归零。</a:t>
            </a:r>
          </a:p>
          <a:p xmlns:a="http://schemas.openxmlformats.org/drawingml/2006/main"/>
          <a:p xmlns:a="http://schemas.openxmlformats.org/drawingml/2006/main">
            <a:r>
              <a:t>关键数字：5→0，4处修改，不整包重写。</a:t>
            </a:r>
          </a:p>
          <a:p xmlns:a="http://schemas.openxmlformats.org/drawingml/2006/main"/>
          <a:p xmlns:a="http://schemas.openxmlformats.org/drawingml/2006/main">
            <a:r>
              <a:t>（正常情况下这页不展示，直接在 Web 上操作。）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【第3-4段辅助 · 可选展示】</a:t>
            </a:r>
          </a:p>
          <a:p xmlns:a="http://schemas.openxmlformats.org/drawingml/2006/main"/>
          <a:p xmlns:a="http://schemas.openxmlformats.org/drawingml/2006/main">
            <a:r>
              <a:t>以 S09 缝标学习为例：一条步骤同时引用 PDF 第20页、视频 190-195秒、口述 153-195秒。</a:t>
            </a:r>
          </a:p>
          <a:p xmlns:a="http://schemas.openxmlformats.org/drawingml/2006/main"/>
          <a:p xmlns:a="http://schemas.openxmlformats.org/drawingml/2006/main">
            <a:r>
              <a:t>引用存在不等于证据充分——低可见度、遮挡和来源冲突会进入待复核，不会被伪装成事实。这是 SkillForge 和"AI 生成教程"的本质区别：我们不只给引用，还给置信度边界。</a:t>
            </a:r>
          </a:p>
          <a:p xmlns:a="http://schemas.openxmlformats.org/drawingml/2006/main"/>
          <a:p xmlns:a="http://schemas.openxmlformats.org/drawingml/2006/main">
            <a:r>
              <a:t>（正常流程中这页不单独展示，Web 上直接点 Evidence ID 看。）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【第3段兜底 · 40-70秒 · 仅当Web不可用时展示本页】</a:t>
            </a:r>
          </a:p>
          <a:p xmlns:a="http://schemas.openxmlformats.org/drawingml/2006/main"/>
          <a:p xmlns:a="http://schemas.openxmlformats.org/drawingml/2006/main">
            <a:r>
              <a:t>如果 Web 没起来，用这页讲 DGX：</a:t>
            </a:r>
          </a:p>
          <a:p xmlns:a="http://schemas.openxmlformats.org/drawingml/2006/main"/>
          <a:p xmlns:a="http://schemas.openxmlformats.org/drawingml/2006/main">
            <a:r>
              <a:t>NVIDIA GB10 上跑原生 CUDA，6段安全视频、420帧处理、50个候选帧，端到端13秒。</a:t>
            </a:r>
          </a:p>
          <a:p xmlns:a="http://schemas.openxmlformats.org/drawingml/2006/main"/>
          <a:p xmlns:a="http://schemas.openxmlformats.org/drawingml/2006/main">
            <a:r>
              <a:t>重点：候选筛选不等于语义结论。GPU 负责"哪些帧值得看"，Agent 负责"看到了什么"。P0 全程不需要 Docker，原生 Python 加 FFmpeg 就能跑。</a:t>
            </a:r>
          </a:p>
          <a:p xmlns:a="http://schemas.openxmlformats.org/drawingml/2006/main"/>
          <a:p xmlns:a="http://schemas.openxmlformats.org/drawingml/2006/main">
            <a:r>
              <a:t>（正常情况下这页不展示，直接在 Web 上指向 DGX 区域。）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【第6段 · 140-160秒 · 本页停留约20秒】</a:t>
            </a:r>
          </a:p>
          <a:p xmlns:a="http://schemas.openxmlformats.org/drawingml/2006/main"/>
          <a:p xmlns:a="http://schemas.openxmlformats.org/drawingml/2006/main">
            <a:r>
              <a:t>（切回PPT，停在本页）</a:t>
            </a:r>
          </a:p>
          <a:p xmlns:a="http://schemas.openxmlformats.org/drawingml/2006/main"/>
          <a:p xmlns:a="http://schemas.openxmlformats.org/drawingml/2006/main">
            <a:r>
              <a:t>硬指标：严重错误 5→0，必要步骤覆盖 90%→100%，证据覆盖 90%→100%。</a:t>
            </a:r>
          </a:p>
          <a:p xmlns:a="http://schemas.openxmlformats.org/drawingml/2006/main"/>
          <a:p xmlns:a="http://schemas.openxmlformats.org/drawingml/2006/main">
            <a:r>
              <a:t>更有意思的是多源消融：只给手册，覆盖80%；只给口述，90%；两者联合，才到100%。没有任何单一来源能替代老师傅的完整经验。</a:t>
            </a:r>
          </a:p>
          <a:p xmlns:a="http://schemas.openxmlformats.org/drawingml/2006/main"/>
          <a:p xmlns:a="http://schemas.openxmlformats.org/drawingml/2006/main">
            <a:r>
              <a:t>可复现性：DGX 直接跑和 Web 现场重算，各20次，共40轮，全部成功，语义指纹始终一致。不是"跑一次碰巧对了"，是"跑40次都一样"。</a:t>
            </a:r>
          </a:p>
          <a:p xmlns:a="http://schemas.openxmlformats.org/drawingml/2006/main"/>
          <a:p xmlns:a="http://schemas.openxmlformats.org/drawingml/2006/main">
            <a:r>
              <a:t>同一份 Gold 还生成了13步 SOP、13项清单、5题测验、海报和80秒视频。</a:t>
            </a:r>
          </a:p>
          <a:p xmlns:a="http://schemas.openxmlformats.org/drawingml/2006/main"/>
          <a:p xmlns:a="http://schemas.openxmlformats.org/drawingml/2006/main">
            <a:r>
              <a:t>【操作】强调前后指标对比，然后切到第8页。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【第7段 · 160-180秒 · 本页停留约20秒，收尾】</a:t>
            </a:r>
          </a:p>
          <a:p xmlns:a="http://schemas.openxmlformats.org/drawingml/2006/main"/>
          <a:p xmlns:a="http://schemas.openxmlformats.org/drawingml/2006/main">
            <a:r>
              <a:t>SkillForge 不是为 N31 写死的一份教程。</a:t>
            </a:r>
          </a:p>
          <a:p xmlns:a="http://schemas.openxmlformats.org/drawingml/2006/main"/>
          <a:p xmlns:a="http://schemas.openxmlformats.org/drawingml/2006/main">
            <a:r>
              <a:t>它是一条可迁移的 Agent 闭环：换一台设备、换一个行业，只要给它视频、手册和口述，它就能生成能回源、能质检、会局部自修订的培训包。</a:t>
            </a:r>
          </a:p>
          <a:p xmlns:a="http://schemas.openxmlformats.org/drawingml/2006/main"/>
          <a:p xmlns:a="http://schemas.openxmlformats.org/drawingml/2006/main">
            <a:r>
              <a:t>三个"可"：每一步可回源，每个问题可复检，每次修改可审计。</a:t>
            </a:r>
          </a:p>
          <a:p xmlns:a="http://schemas.openxmlformats.org/drawingml/2006/main"/>
          <a:p xmlns:a="http://schemas.openxmlformats.org/drawingml/2006/main">
            <a:r>
              <a:t>DGX Spark 让敏感视频留在现场，不上云、不出门。让专家经验真正成为可部署、可验证的组织能力。</a:t>
            </a:r>
          </a:p>
          <a:p xmlns:a="http://schemas.openxmlformats.org/drawingml/2006/main"/>
          <a:p xmlns:a="http://schemas.openxmlformats.org/drawingml/2006/main">
            <a:r>
              <a:t>我们不是生成更多内容，而是让内容能被相信。</a:t>
            </a:r>
          </a:p>
          <a:p xmlns:a="http://schemas.openxmlformats.org/drawingml/2006/main"/>
          <a:p xmlns:a="http://schemas.openxmlformats.org/drawingml/2006/main">
            <a:r>
              <a:t>谢谢大家。</a:t>
            </a:r>
          </a:p>
          <a:p xmlns:a="http://schemas.openxmlformats.org/drawingml/2006/main"/>
          <a:p xmlns:a="http://schemas.openxmlformats.org/drawingml/2006/main">
            <a:r>
              <a:t>【操作】展示结尾页，停在核心主张，微笑，等掌声。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a143bf24d7314413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8f789973b1bc4e4e" Type="http://schemas.openxmlformats.org/officeDocument/2006/relationships/slideLayout" Target="../slideLayouts/slideLayout1.xml"/><Relationship Id="Ra9c36ce2435e492d" Type="http://schemas.openxmlformats.org/officeDocument/2006/relationships/theme" Target="theme/theme2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f789973b1bc4e4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548834c6b2e841d2" Type="http://schemas.openxmlformats.org/officeDocument/2006/relationships/notesSlide" Target="../notesSlides/notesSlide1.xml"/><Relationship Id="R7167978b00c9455b" Type="http://schemas.openxmlformats.org/officeDocument/2006/relationships/image" Target="../media/image.jpeg"/><Relationship Id="R87e2704a4a3b44e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6657b33b07d44453" Type="http://schemas.openxmlformats.org/officeDocument/2006/relationships/image" Target="../media/image2.jpeg"/><Relationship Id="R8901bf1e7bad49b5" Type="http://schemas.openxmlformats.org/officeDocument/2006/relationships/notesSlide" Target="../notesSlides/notesSlide2.xml"/><Relationship Id="Ree1110698f66409a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a381730b951e4624" Type="http://schemas.openxmlformats.org/officeDocument/2006/relationships/notesSlide" Target="../notesSlides/notesSlide3.xml"/><Relationship Id="Rf8726a4522884ec4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2cb3a0fc20954400" Type="http://schemas.openxmlformats.org/officeDocument/2006/relationships/image" Target="../media/image.png"/><Relationship Id="R471f4e11d2ff4e39" Type="http://schemas.openxmlformats.org/officeDocument/2006/relationships/notesSlide" Target="../notesSlides/notesSlide4.xml"/><Relationship Id="R4eeab06cbaf4490a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262083e1d6cb4c3f" Type="http://schemas.openxmlformats.org/officeDocument/2006/relationships/notesSlide" Target="../notesSlides/notesSlide5.xml"/><Relationship Id="Ra8d1f84b0d514cf0" Type="http://schemas.openxmlformats.org/officeDocument/2006/relationships/image" Target="../media/image3.jpeg"/><Relationship Id="Rf6c101671d82498c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225ce121cdcd4733" Type="http://schemas.openxmlformats.org/officeDocument/2006/relationships/slideLayout" Target="../slideLayouts/slideLayout1.xml"/><Relationship Id="R3014c4174f1e4dd7" Type="http://schemas.openxmlformats.org/officeDocument/2006/relationships/image" Target="../media/image2.png"/><Relationship Id="R3da9cbdc8f1e45b8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0168920043fc43ae" Type="http://schemas.openxmlformats.org/officeDocument/2006/relationships/notesSlide" Target="../notesSlides/notesSlide7.xml"/><Relationship Id="R60637f6349954b8f" Type="http://schemas.openxmlformats.org/officeDocument/2006/relationships/slideLayout" Target="../slideLayouts/slideLayout1.xml"/><Relationship Id="Rbba78a9aa09a47c1" Type="http://schemas.openxmlformats.org/officeDocument/2006/relationships/image" Target="../media/image2.jpeg"/><Relationship Id="Rd52f5d8db91b4a56" Type="http://schemas.openxmlformats.org/officeDocument/2006/relationships/chart" Target="charts/chart1.xml"/></Relationships>
</file>

<file path=ppt/slides/_rels/slide8.xml.rels><?xml version='1.0' encoding='UTF-8' standalone='yes'?>
<Relationships xmlns="http://schemas.openxmlformats.org/package/2006/relationships"><Relationship Id="R5c3ecc9950f941b1" Type="http://schemas.openxmlformats.org/officeDocument/2006/relationships/slideLayout" Target="../slideLayouts/slideLayout1.xml"/><Relationship Id="R94e43d8d3e5643e5" Type="http://schemas.openxmlformats.org/officeDocument/2006/relationships/notesSlide" Target="../notesSlides/notesSlide8.xml"/></Relationships>
</file>

<file path=ppt/slides/charts/chart1.xml><?xml version="1.0" encoding="utf-8"?>
<c:chartSpace xmlns:c="http://schemas.openxmlformats.org/drawingml/2006/chart">
  <c:lang val="en-US"/>
  <c:roundedCorners val="1"/>
  <c:style val="2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v>严重错误</c:v>
          </c:tx>
          <c:spPr>
            <a:solidFill xmlns:a="http://schemas.openxmlformats.org/drawingml/2006/main">
              <a:srgbClr val="3D8DFF"/>
            </a:solidFill>
          </c:spPr>
          <c:dLbls>
            <c:spPr>
              <a:noFill xmlns:a="http://schemas.openxmlformats.org/drawingml/2006/main"/>
              <a:ln xmlns:a="http://schemas.openxmlformats.org/drawingml/2006/main">
                <a:noFill/>
              </a:ln>
            </c:sp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2"/>
              <c:pt idx="0">
                <c:v>修订前</c:v>
              </c:pt>
              <c:pt idx="1">
                <c:v>修订后</c:v>
              </c:pt>
            </c:strLit>
          </c:cat>
          <c:val>
            <c:numLit>
              <c:formatCode>General</c:formatCode>
              <c:ptCount val="2"/>
              <c:pt idx="0">
                <c:v>5</c:v>
              </c:pt>
              <c:pt idx="1">
                <c:v>0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xmlns:a="http://schemas.openxmlformats.org/drawingml/2006/main" w="9525">
            <a:solidFill>
              <a:srgbClr val="D7DAE0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050505"/>
                </a:solidFill>
                <a:latin typeface="Microsoft YaHei Regular"/>
                <a:ea typeface="Microsoft YaHei Regular"/>
                <a:cs typeface="Microsoft YaHei Regular"/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  <c:max val="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7DAE0"/>
              </a:solidFill>
              <a:prstDash val="solid"/>
            </a:ln>
          </c:spPr>
        </c:majorGridlines>
        <c:numFmt formatCode="General" sourceLinked="1"/>
        <c:majorTickMark val="none"/>
        <c:minorTickMark val="none"/>
        <c:tickLblPos val="nextTo"/>
        <c:spPr>
          <a:ln xmlns:a="http://schemas.openxmlformats.org/drawingml/2006/main" w="0">
            <a:solidFill>
              <a:srgbClr val="F2F3F5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</a:p>
        </c:txPr>
        <c:crossAx val="48650112"/>
        <c:crosses val="autoZero"/>
        <c:crossBetween val="between"/>
        <c:majorUnit val="1"/>
      </c:valAx>
      <c:spPr>
        <a:noFill xmlns:a="http://schemas.openxmlformats.org/drawingml/2006/main"/>
        <a:ln xmlns:a="http://schemas.openxmlformats.org/drawingml/2006/main" w="0">
          <a:solidFill>
            <a:srgbClr val="F2F3F5"/>
          </a:solidFill>
          <a:prstDash val="solid"/>
        </a:ln>
      </c:spPr>
    </c:plotArea>
    <c:plotVisOnly val="1"/>
  </c:chart>
  <c:spPr>
    <a:solidFill xmlns:a="http://schemas.openxmlformats.org/drawingml/2006/main">
      <a:srgbClr val="F2F3F5"/>
    </a:solidFill>
    <a:ln xmlns:a="http://schemas.openxmlformats.org/drawingml/2006/main" w="0">
      <a:solidFill>
        <a:srgbClr val="F2F3F5"/>
      </a:solidFill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N31真实案例画面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67978b00c9455b"/>
          <a:srcRect xmlns:a="http://schemas.openxmlformats.org/drawingml/2006/main" l="25000" t="0" r="2500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0" y="0"/>
            <a:ext cx="6096000" cy="6858000"/>
          </a:xfrm>
          <a:prstGeom xmlns:a="http://schemas.openxmlformats.org/drawingml/2006/main" prst="roundRect">
            <a:avLst>
              <a:gd name="adj" fmla="val 1875"/>
            </a:avLst>
          </a:prstGeom>
        </p:spPr>
      </p:pic>
      <p:sp>
        <p:nvSpPr>
          <p:cNvPr id="2" name="cover-white">
            <a:extLst xmlns:a="http://schemas.openxmlformats.org/drawingml/2006/main">
              <a:ext uri="{FF2B5EF4-FFF2-40B4-BE49-F238E27FC236}">
                <a16:creationId xmlns:a16="http://schemas.microsoft.com/office/drawing/2014/main" id="{9FA660F6-59B8-48B0-B312-852B1E3BD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6190"/>
            <a:ext cx="65246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3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72919BEA-4B0C-4E74-8EA2-B65860E20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200150"/>
            <a:ext cx="876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4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0AB4B31A-7C31-41BF-8557-CF53A0ACB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19100"/>
            <a:ext cx="5334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D8DFF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NVIDIA DGX SPARK 黑客松 2026 · 星星之火 · SkillForge · 匠传</a:t>
            </a:r>
          </a:p>
        </p:txBody>
      </p:sp>
      <p:sp>
        <p:nvSpPr>
          <p:cNvPr id="5" name="cover-title">
            <a:extLst xmlns:a="http://schemas.openxmlformats.org/drawingml/2006/main">
              <a:ext uri="{FF2B5EF4-FFF2-40B4-BE49-F238E27FC236}">
                <a16:creationId xmlns:a16="http://schemas.microsoft.com/office/drawing/2014/main" id="{EADD36E2-2AE8-4386-ABB5-6314F7673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524000"/>
            <a:ext cx="5334000" cy="1952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6450" b="1">
                <a:solidFill>
                  <a:srgbClr val="050505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SkillForge</a:t>
            </a:r>
            <a:br/>
            <a:r>
              <a:t>匠传</a:t>
            </a:r>
          </a:p>
        </p:txBody>
      </p:sp>
      <p:sp>
        <p:nvSpPr>
          <p:cNvPr id="6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96D536F3-4C31-4C26-9AD3-FE453CB97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876675"/>
            <a:ext cx="55245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1954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0">
                <a:solidFill>
                  <a:srgbClr val="050505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不让关键操作随人员流动而失真
让专家经验成为可追溯、可验证、会自我修订的培训能力</a:t>
            </a:r>
          </a:p>
        </p:txBody>
      </p:sp>
      <p:sp>
        <p:nvSpPr>
          <p:cNvPr id="7" name="cover-chip">
            <a:extLst xmlns:a="http://schemas.openxmlformats.org/drawingml/2006/main">
              <a:ext uri="{FF2B5EF4-FFF2-40B4-BE49-F238E27FC236}">
                <a16:creationId xmlns:a16="http://schemas.microsoft.com/office/drawing/2014/main" id="{1D77EA18-4302-4B33-8483-C201146BC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657850"/>
            <a:ext cx="42481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8" name="cover-chip-text">
            <a:extLst xmlns:a="http://schemas.openxmlformats.org/drawingml/2006/main">
              <a:ext uri="{FF2B5EF4-FFF2-40B4-BE49-F238E27FC236}">
                <a16:creationId xmlns:a16="http://schemas.microsoft.com/office/drawing/2014/main" id="{AB8ACCD0-9D04-4F49-88F0-74B5E65D3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791200"/>
            <a:ext cx="3857625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3233A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视频、手册、口述 → 可执行培训</a:t>
            </a:r>
          </a:p>
        </p:txBody>
      </p:sp>
      <p:sp>
        <p:nvSpPr>
          <p:cNvPr id="9" name="cover-page">
            <a:extLst xmlns:a="http://schemas.openxmlformats.org/drawingml/2006/main">
              <a:ext uri="{FF2B5EF4-FFF2-40B4-BE49-F238E27FC236}">
                <a16:creationId xmlns:a16="http://schemas.microsoft.com/office/drawing/2014/main" id="{18679AC0-C477-4B10-93BF-5FB59223B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6496050"/>
            <a:ext cx="6858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01 / 08</a:t>
            </a:r>
          </a:p>
        </p:txBody>
      </p:sp>
    </p:spTree>
    <p:extLst>
      <p:ext uri="{BB962C8B-B14F-4D97-AF65-F5344CB8AC3E}">
        <p14:creationId xmlns:p14="http://schemas.microsoft.com/office/powerpoint/2010/main" val="95191846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kicker-2">
            <a:extLst xmlns:a="http://schemas.openxmlformats.org/drawingml/2006/main">
              <a:ext uri="{FF2B5EF4-FFF2-40B4-BE49-F238E27FC236}">
                <a16:creationId xmlns:a16="http://schemas.microsoft.com/office/drawing/2014/main" id="{DCDC9493-B4B1-443B-B145-2131A9845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85750"/>
            <a:ext cx="5905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D8DFF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REAL OPERATION · REAL FAILURE MODES</a:t>
            </a:r>
          </a:p>
        </p:txBody>
      </p:sp>
      <p:sp>
        <p:nvSpPr>
          <p:cNvPr id="2" name="title-2">
            <a:extLst xmlns:a="http://schemas.openxmlformats.org/drawingml/2006/main">
              <a:ext uri="{FF2B5EF4-FFF2-40B4-BE49-F238E27FC236}">
                <a16:creationId xmlns:a16="http://schemas.microsoft.com/office/drawing/2014/main" id="{7A451147-5263-4CC6-B022-7254F6D58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42925"/>
            <a:ext cx="106680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050505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一次“换纸”，知识却散落在三种来源里</a:t>
            </a:r>
          </a:p>
        </p:txBody>
      </p:sp>
      <p:sp>
        <p:nvSpPr>
          <p:cNvPr id="3" name="number-2">
            <a:extLst xmlns:a="http://schemas.openxmlformats.org/drawingml/2006/main">
              <a:ext uri="{FF2B5EF4-FFF2-40B4-BE49-F238E27FC236}">
                <a16:creationId xmlns:a16="http://schemas.microsoft.com/office/drawing/2014/main" id="{61CEF2CD-A43D-47E7-92AB-5799D639C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23850"/>
            <a:ext cx="533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02</a:t>
            </a:r>
          </a:p>
        </p:txBody>
      </p:sp>
      <p:sp>
        <p:nvSpPr>
          <p:cNvPr id="4" name="problem-left">
            <a:extLst xmlns:a="http://schemas.openxmlformats.org/drawingml/2006/main">
              <a:ext uri="{FF2B5EF4-FFF2-40B4-BE49-F238E27FC236}">
                <a16:creationId xmlns:a16="http://schemas.microsoft.com/office/drawing/2014/main" id="{4F3439D8-FD70-4757-B39A-E72A95812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371600"/>
            <a:ext cx="3924300" cy="4591050"/>
          </a:xfrm>
          <a:prstGeom xmlns:a="http://schemas.openxmlformats.org/drawingml/2006/main" prst="roundRect">
            <a:avLst>
              <a:gd name="adj" fmla="val 2913"/>
            </a:avLst>
          </a:prstGeom>
          <a:solidFill xmlns:a="http://schemas.openxmlformats.org/drawingml/2006/main">
            <a:srgbClr val="F2F3F5"/>
          </a:solidFill>
          <a:ln xmlns:a="http://schemas.openxmlformats.org/drawingml/2006/main" w="0">
            <a:solidFill>
              <a:srgbClr val="F2F3F5"/>
            </a:solidFill>
            <a:prstDash val="solid"/>
          </a:ln>
        </p:spPr>
      </p:sp>
      <p:sp>
        <p:nvSpPr>
          <p:cNvPr id="5" name="problem-claim">
            <a:extLst xmlns:a="http://schemas.openxmlformats.org/drawingml/2006/main">
              <a:ext uri="{FF2B5EF4-FFF2-40B4-BE49-F238E27FC236}">
                <a16:creationId xmlns:a16="http://schemas.microsoft.com/office/drawing/2014/main" id="{F5BCCFFA-A763-4999-BAEE-F50201457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3333750" cy="175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8291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50505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普通内容生成
能写教程，
却无法证明
“为什么这样做”</a:t>
            </a:r>
          </a:p>
        </p:txBody>
      </p:sp>
      <p:sp>
        <p:nvSpPr>
          <p:cNvPr id="6" name="problem-divider">
            <a:extLst xmlns:a="http://schemas.openxmlformats.org/drawingml/2006/main">
              <a:ext uri="{FF2B5EF4-FFF2-40B4-BE49-F238E27FC236}">
                <a16:creationId xmlns:a16="http://schemas.microsoft.com/office/drawing/2014/main" id="{602584A2-B305-468C-884F-1F0A48E2F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76650"/>
            <a:ext cx="857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7" name="problem-hidden">
            <a:extLst xmlns:a="http://schemas.openxmlformats.org/drawingml/2006/main">
              <a:ext uri="{FF2B5EF4-FFF2-40B4-BE49-F238E27FC236}">
                <a16:creationId xmlns:a16="http://schemas.microsoft.com/office/drawing/2014/main" id="{CD279B79-941A-448D-804A-C1A7AF36E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43350"/>
            <a:ext cx="32385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最容易漏掉的不是大动作</a:t>
            </a:r>
          </a:p>
        </p:txBody>
      </p:sp>
      <p:sp>
        <p:nvSpPr>
          <p:cNvPr id="8" name="problem-one">
            <a:extLst xmlns:a="http://schemas.openxmlformats.org/drawingml/2006/main">
              <a:ext uri="{FF2B5EF4-FFF2-40B4-BE49-F238E27FC236}">
                <a16:creationId xmlns:a16="http://schemas.microsoft.com/office/drawing/2014/main" id="{C83B46D1-7503-427B-B730-66394C445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38650"/>
            <a:ext cx="3143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50505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01  导纸夹宽度与居中</a:t>
            </a:r>
          </a:p>
        </p:txBody>
      </p:sp>
      <p:sp>
        <p:nvSpPr>
          <p:cNvPr id="9" name="problem-two">
            <a:extLst xmlns:a="http://schemas.openxmlformats.org/drawingml/2006/main">
              <a:ext uri="{FF2B5EF4-FFF2-40B4-BE49-F238E27FC236}">
                <a16:creationId xmlns:a16="http://schemas.microsoft.com/office/drawing/2014/main" id="{C03804B8-67D6-4D57-8FA0-3EA52EF56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3143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50505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02  缝标介质学习</a:t>
            </a:r>
          </a:p>
        </p:txBody>
      </p:sp>
      <p:sp>
        <p:nvSpPr>
          <p:cNvPr id="10" name="problem-three">
            <a:extLst xmlns:a="http://schemas.openxmlformats.org/drawingml/2006/main">
              <a:ext uri="{FF2B5EF4-FFF2-40B4-BE49-F238E27FC236}">
                <a16:creationId xmlns:a16="http://schemas.microsoft.com/office/drawing/2014/main" id="{11704079-97E4-4792-BEB8-8780167CE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76850"/>
            <a:ext cx="3143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50505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03  试印与完成验收</a:t>
            </a:r>
          </a:p>
        </p:txBody>
      </p:sp>
      <p:pic>
        <p:nvPicPr>
          <p:cNvPr id="39" name="N31十五镜头联系表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57b33b07d44453"/>
          <a:srcRect xmlns:a="http://schemas.openxmlformats.org/drawingml/2006/main" l="0" t="9417" r="0" b="941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667250" y="1371600"/>
            <a:ext cx="7105650" cy="3276600"/>
          </a:xfrm>
          <a:prstGeom xmlns:a="http://schemas.openxmlformats.org/drawingml/2006/main" prst="roundRect">
            <a:avLst>
              <a:gd name="adj" fmla="val 3488"/>
            </a:avLst>
          </a:prstGeom>
        </p:spPr>
      </p:pic>
      <p:sp>
        <p:nvSpPr>
          <p:cNvPr id="12" name="source-video">
            <a:extLst xmlns:a="http://schemas.openxmlformats.org/drawingml/2006/main">
              <a:ext uri="{FF2B5EF4-FFF2-40B4-BE49-F238E27FC236}">
                <a16:creationId xmlns:a16="http://schemas.microsoft.com/office/drawing/2014/main" id="{35DDD8AF-D31D-4FBA-855B-F28CD5831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895850"/>
            <a:ext cx="21717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13" name="source-manual">
            <a:extLst xmlns:a="http://schemas.openxmlformats.org/drawingml/2006/main">
              <a:ext uri="{FF2B5EF4-FFF2-40B4-BE49-F238E27FC236}">
                <a16:creationId xmlns:a16="http://schemas.microsoft.com/office/drawing/2014/main" id="{EBC06EFA-FA9B-4441-9318-D3F0F4E7F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4225" y="4895850"/>
            <a:ext cx="21717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14" name="source-audio">
            <a:extLst xmlns:a="http://schemas.openxmlformats.org/drawingml/2006/main">
              <a:ext uri="{FF2B5EF4-FFF2-40B4-BE49-F238E27FC236}">
                <a16:creationId xmlns:a16="http://schemas.microsoft.com/office/drawing/2014/main" id="{440DEF27-33AE-419C-95B0-96015D5C4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4895850"/>
            <a:ext cx="21717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15" name="source-video-n">
            <a:extLst xmlns:a="http://schemas.openxmlformats.org/drawingml/2006/main">
              <a:ext uri="{FF2B5EF4-FFF2-40B4-BE49-F238E27FC236}">
                <a16:creationId xmlns:a16="http://schemas.microsoft.com/office/drawing/2014/main" id="{0814A957-1011-4743-ADF2-68F568C81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5086350"/>
            <a:ext cx="419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D8DFF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01</a:t>
            </a:r>
          </a:p>
        </p:txBody>
      </p:sp>
      <p:sp>
        <p:nvSpPr>
          <p:cNvPr id="16" name="source-video-t">
            <a:extLst xmlns:a="http://schemas.openxmlformats.org/drawingml/2006/main">
              <a:ext uri="{FF2B5EF4-FFF2-40B4-BE49-F238E27FC236}">
                <a16:creationId xmlns:a16="http://schemas.microsoft.com/office/drawing/2014/main" id="{55F75A60-FD0C-4C55-8C76-4E862C010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5381625"/>
            <a:ext cx="17907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50505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专家操作视频</a:t>
            </a:r>
          </a:p>
        </p:txBody>
      </p:sp>
      <p:sp>
        <p:nvSpPr>
          <p:cNvPr id="17" name="source-video-l">
            <a:extLst xmlns:a="http://schemas.openxmlformats.org/drawingml/2006/main">
              <a:ext uri="{FF2B5EF4-FFF2-40B4-BE49-F238E27FC236}">
                <a16:creationId xmlns:a16="http://schemas.microsoft.com/office/drawing/2014/main" id="{1A9BCBC2-EFC9-4D1E-81BC-4B2A801A0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5676900"/>
            <a:ext cx="17907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绑定视频时间点</a:t>
            </a:r>
          </a:p>
        </p:txBody>
      </p:sp>
      <p:sp>
        <p:nvSpPr>
          <p:cNvPr id="18" name="source-manual-n">
            <a:extLst xmlns:a="http://schemas.openxmlformats.org/drawingml/2006/main">
              <a:ext uri="{FF2B5EF4-FFF2-40B4-BE49-F238E27FC236}">
                <a16:creationId xmlns:a16="http://schemas.microsoft.com/office/drawing/2014/main" id="{9086FEB6-0EB3-4484-8F9E-6F01A986B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5086350"/>
            <a:ext cx="419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D8DFF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02</a:t>
            </a:r>
          </a:p>
        </p:txBody>
      </p:sp>
      <p:sp>
        <p:nvSpPr>
          <p:cNvPr id="19" name="source-manual-t">
            <a:extLst xmlns:a="http://schemas.openxmlformats.org/drawingml/2006/main">
              <a:ext uri="{FF2B5EF4-FFF2-40B4-BE49-F238E27FC236}">
                <a16:creationId xmlns:a16="http://schemas.microsoft.com/office/drawing/2014/main" id="{926A7775-9D79-4AD2-A3A4-7CF9F8A17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5381625"/>
            <a:ext cx="17907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50505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设备 PDF</a:t>
            </a:r>
          </a:p>
        </p:txBody>
      </p:sp>
      <p:sp>
        <p:nvSpPr>
          <p:cNvPr id="20" name="source-manual-l">
            <a:extLst xmlns:a="http://schemas.openxmlformats.org/drawingml/2006/main">
              <a:ext uri="{FF2B5EF4-FFF2-40B4-BE49-F238E27FC236}">
                <a16:creationId xmlns:a16="http://schemas.microsoft.com/office/drawing/2014/main" id="{EE3A24C7-154A-4AF8-A4F6-941330F34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5676900"/>
            <a:ext cx="17907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绑定原始页码</a:t>
            </a:r>
          </a:p>
        </p:txBody>
      </p:sp>
      <p:sp>
        <p:nvSpPr>
          <p:cNvPr id="21" name="source-audio-n">
            <a:extLst xmlns:a="http://schemas.openxmlformats.org/drawingml/2006/main">
              <a:ext uri="{FF2B5EF4-FFF2-40B4-BE49-F238E27FC236}">
                <a16:creationId xmlns:a16="http://schemas.microsoft.com/office/drawing/2014/main" id="{8B3AD43E-05F2-43E3-BF55-6885D3916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5086350"/>
            <a:ext cx="419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D8DFF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03</a:t>
            </a:r>
          </a:p>
        </p:txBody>
      </p:sp>
      <p:sp>
        <p:nvSpPr>
          <p:cNvPr id="22" name="source-audio-t">
            <a:extLst xmlns:a="http://schemas.openxmlformats.org/drawingml/2006/main">
              <a:ext uri="{FF2B5EF4-FFF2-40B4-BE49-F238E27FC236}">
                <a16:creationId xmlns:a16="http://schemas.microsoft.com/office/drawing/2014/main" id="{BDE7A126-50D1-46D5-A743-FD04A1229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5381625"/>
            <a:ext cx="17907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50505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专家口述</a:t>
            </a:r>
          </a:p>
        </p:txBody>
      </p:sp>
      <p:sp>
        <p:nvSpPr>
          <p:cNvPr id="23" name="source-audio-l">
            <a:extLst xmlns:a="http://schemas.openxmlformats.org/drawingml/2006/main">
              <a:ext uri="{FF2B5EF4-FFF2-40B4-BE49-F238E27FC236}">
                <a16:creationId xmlns:a16="http://schemas.microsoft.com/office/drawing/2014/main" id="{2B9558E2-CBB4-4FF5-87AD-3733BB746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5676900"/>
            <a:ext cx="17907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绑定录音时间点</a:t>
            </a:r>
          </a:p>
        </p:txBody>
      </p:sp>
      <p:sp>
        <p:nvSpPr>
          <p:cNvPr id="24" name="footer-line-2">
            <a:extLst xmlns:a="http://schemas.openxmlformats.org/drawingml/2006/main">
              <a:ext uri="{FF2B5EF4-FFF2-40B4-BE49-F238E27FC236}">
                <a16:creationId xmlns:a16="http://schemas.microsoft.com/office/drawing/2014/main" id="{F1170E39-D803-448B-8A12-FAB2E12A0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11353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E0"/>
          </a:solidFill>
          <a:ln xmlns:a="http://schemas.openxmlformats.org/drawingml/2006/main" w="0">
            <a:solidFill>
              <a:srgbClr val="D7DAE0"/>
            </a:solidFill>
            <a:prstDash val="solid"/>
          </a:ln>
        </p:spPr>
      </p:sp>
      <p:sp>
        <p:nvSpPr>
          <p:cNvPr id="25" name="footer-source-2">
            <a:extLst xmlns:a="http://schemas.openxmlformats.org/drawingml/2006/main">
              <a:ext uri="{FF2B5EF4-FFF2-40B4-BE49-F238E27FC236}">
                <a16:creationId xmlns:a16="http://schemas.microsoft.com/office/drawing/2014/main" id="{42385ADD-AC16-42B1-9F29-41D9E7925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543675"/>
            <a:ext cx="10287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来源：N31 Gold v1 与80秒培训视频联系表</a:t>
            </a:r>
          </a:p>
        </p:txBody>
      </p:sp>
      <p:sp>
        <p:nvSpPr>
          <p:cNvPr id="26" name="footer-page-2">
            <a:extLst xmlns:a="http://schemas.openxmlformats.org/drawingml/2006/main">
              <a:ext uri="{FF2B5EF4-FFF2-40B4-BE49-F238E27FC236}">
                <a16:creationId xmlns:a16="http://schemas.microsoft.com/office/drawing/2014/main" id="{457AD6C4-DD80-4E43-8C1D-687070243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43675"/>
            <a:ext cx="5334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2/8</a:t>
            </a:r>
          </a:p>
        </p:txBody>
      </p:sp>
    </p:spTree>
    <p:extLst>
      <p:ext uri="{BB962C8B-B14F-4D97-AF65-F5344CB8AC3E}">
        <p14:creationId xmlns:p14="http://schemas.microsoft.com/office/powerpoint/2010/main" val="71219095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kicker-3">
            <a:extLst xmlns:a="http://schemas.openxmlformats.org/drawingml/2006/main">
              <a:ext uri="{FF2B5EF4-FFF2-40B4-BE49-F238E27FC236}">
                <a16:creationId xmlns:a16="http://schemas.microsoft.com/office/drawing/2014/main" id="{73EA2AF1-A7CE-4B64-B862-3001AD54B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85750"/>
            <a:ext cx="5905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D8DFF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SYSTEM · EVIDENCE FIRST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FC1EB1E3-C633-454B-851E-2D0CAF2F9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42925"/>
            <a:ext cx="106680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050505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五个 Agent，把素材变成可验证闭环</a:t>
            </a:r>
          </a:p>
        </p:txBody>
      </p:sp>
      <p:sp>
        <p:nvSpPr>
          <p:cNvPr id="3" name="number-3">
            <a:extLst xmlns:a="http://schemas.openxmlformats.org/drawingml/2006/main">
              <a:ext uri="{FF2B5EF4-FFF2-40B4-BE49-F238E27FC236}">
                <a16:creationId xmlns:a16="http://schemas.microsoft.com/office/drawing/2014/main" id="{81D0B039-BE9E-47E3-B05B-67F3B76D0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23850"/>
            <a:ext cx="533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03</a:t>
            </a:r>
          </a:p>
        </p:txBody>
      </p:sp>
      <p:sp>
        <p:nvSpPr>
          <p:cNvPr id="4" name="input-label">
            <a:extLst xmlns:a="http://schemas.openxmlformats.org/drawingml/2006/main">
              <a:ext uri="{FF2B5EF4-FFF2-40B4-BE49-F238E27FC236}">
                <a16:creationId xmlns:a16="http://schemas.microsoft.com/office/drawing/2014/main" id="{75FE202C-6EDF-4114-8A09-577393DB6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47800"/>
            <a:ext cx="1714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INPUTS</a:t>
            </a:r>
          </a:p>
        </p:txBody>
      </p:sp>
      <p:sp>
        <p:nvSpPr>
          <p:cNvPr id="5" name="input-video">
            <a:extLst xmlns:a="http://schemas.openxmlformats.org/drawingml/2006/main">
              <a:ext uri="{FF2B5EF4-FFF2-40B4-BE49-F238E27FC236}">
                <a16:creationId xmlns:a16="http://schemas.microsoft.com/office/drawing/2014/main" id="{9E93157B-34B3-436E-866E-1555CF739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28800"/>
            <a:ext cx="20955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6" name="input-pdf">
            <a:extLst xmlns:a="http://schemas.openxmlformats.org/drawingml/2006/main">
              <a:ext uri="{FF2B5EF4-FFF2-40B4-BE49-F238E27FC236}">
                <a16:creationId xmlns:a16="http://schemas.microsoft.com/office/drawing/2014/main" id="{B569E537-460E-4DC0-A770-206B7D5FF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905125"/>
            <a:ext cx="20955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7" name="input-audio">
            <a:extLst xmlns:a="http://schemas.openxmlformats.org/drawingml/2006/main">
              <a:ext uri="{FF2B5EF4-FFF2-40B4-BE49-F238E27FC236}">
                <a16:creationId xmlns:a16="http://schemas.microsoft.com/office/drawing/2014/main" id="{8F02A22A-E768-44E2-AF2E-8D66B7508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981450"/>
            <a:ext cx="20955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8" name="input-video-text">
            <a:extLst xmlns:a="http://schemas.openxmlformats.org/drawingml/2006/main">
              <a:ext uri="{FF2B5EF4-FFF2-40B4-BE49-F238E27FC236}">
                <a16:creationId xmlns:a16="http://schemas.microsoft.com/office/drawing/2014/main" id="{0C4ADFA1-A80D-4B30-B19E-AE92CC825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00250"/>
            <a:ext cx="16954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50505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操作视频
时间点 + 关键帧</a:t>
            </a:r>
          </a:p>
        </p:txBody>
      </p:sp>
      <p:sp>
        <p:nvSpPr>
          <p:cNvPr id="9" name="input-pdf-text">
            <a:extLst xmlns:a="http://schemas.openxmlformats.org/drawingml/2006/main">
              <a:ext uri="{FF2B5EF4-FFF2-40B4-BE49-F238E27FC236}">
                <a16:creationId xmlns:a16="http://schemas.microsoft.com/office/drawing/2014/main" id="{A54D0A36-A724-4A5E-B053-D785C1934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76575"/>
            <a:ext cx="16954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50505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设备手册
页码 + 段落</a:t>
            </a:r>
          </a:p>
        </p:txBody>
      </p:sp>
      <p:sp>
        <p:nvSpPr>
          <p:cNvPr id="10" name="input-audio-text">
            <a:extLst xmlns:a="http://schemas.openxmlformats.org/drawingml/2006/main">
              <a:ext uri="{FF2B5EF4-FFF2-40B4-BE49-F238E27FC236}">
                <a16:creationId xmlns:a16="http://schemas.microsoft.com/office/drawing/2014/main" id="{DDF1DD6C-BA2A-4645-9F05-4714B9844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152900"/>
            <a:ext cx="16954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50505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专家口述
时间点 + 经验</a:t>
            </a:r>
          </a:p>
        </p:txBody>
      </p:sp>
      <p:sp>
        <p:nvSpPr>
          <p:cNvPr id="11" name="input-arrow">
            <a:extLst xmlns:a="http://schemas.openxmlformats.org/drawingml/2006/main">
              <a:ext uri="{FF2B5EF4-FFF2-40B4-BE49-F238E27FC236}">
                <a16:creationId xmlns:a16="http://schemas.microsoft.com/office/drawing/2014/main" id="{C9725FEE-ECE9-45FA-BA69-40A9E9064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3057525"/>
            <a:ext cx="4572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3D8DFF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→</a:t>
            </a:r>
          </a:p>
        </p:txBody>
      </p:sp>
      <p:sp>
        <p:nvSpPr>
          <p:cNvPr id="12" name="agent-frame">
            <a:extLst xmlns:a="http://schemas.openxmlformats.org/drawingml/2006/main">
              <a:ext uri="{FF2B5EF4-FFF2-40B4-BE49-F238E27FC236}">
                <a16:creationId xmlns:a16="http://schemas.microsoft.com/office/drawing/2014/main" id="{3D5B0645-55B6-49D4-9727-0C21E5B01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447800"/>
            <a:ext cx="5257800" cy="40005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2F3F5"/>
          </a:solidFill>
          <a:ln xmlns:a="http://schemas.openxmlformats.org/drawingml/2006/main" w="0">
            <a:solidFill>
              <a:srgbClr val="F2F3F5"/>
            </a:solidFill>
            <a:prstDash val="solid"/>
          </a:ln>
        </p:spPr>
      </p:sp>
      <p:sp>
        <p:nvSpPr>
          <p:cNvPr id="13" name="agent-label">
            <a:extLst xmlns:a="http://schemas.openxmlformats.org/drawingml/2006/main">
              <a:ext uri="{FF2B5EF4-FFF2-40B4-BE49-F238E27FC236}">
                <a16:creationId xmlns:a16="http://schemas.microsoft.com/office/drawing/2014/main" id="{4B512F87-396E-4F98-B1E8-AD661002D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676400"/>
            <a:ext cx="1619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AGENT LOOP</a:t>
            </a:r>
          </a:p>
        </p:txBody>
      </p:sp>
      <p:sp>
        <p:nvSpPr>
          <p:cNvPr id="14" name="agent-perception">
            <a:extLst xmlns:a="http://schemas.openxmlformats.org/drawingml/2006/main">
              <a:ext uri="{FF2B5EF4-FFF2-40B4-BE49-F238E27FC236}">
                <a16:creationId xmlns:a16="http://schemas.microsoft.com/office/drawing/2014/main" id="{00BFF817-4EAC-461A-8075-8B4E1FA2E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076450"/>
            <a:ext cx="21907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5" name="agent-sop">
            <a:extLst xmlns:a="http://schemas.openxmlformats.org/drawingml/2006/main">
              <a:ext uri="{FF2B5EF4-FFF2-40B4-BE49-F238E27FC236}">
                <a16:creationId xmlns:a16="http://schemas.microsoft.com/office/drawing/2014/main" id="{702F7351-C780-4721-AADF-0F8A03941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076450"/>
            <a:ext cx="21907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6" name="agent-creator">
            <a:extLst xmlns:a="http://schemas.openxmlformats.org/drawingml/2006/main">
              <a:ext uri="{FF2B5EF4-FFF2-40B4-BE49-F238E27FC236}">
                <a16:creationId xmlns:a16="http://schemas.microsoft.com/office/drawing/2014/main" id="{CA66FAF4-FC23-4467-996A-D3F1B86DF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105150"/>
            <a:ext cx="21907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7" name="agent-verifier">
            <a:extLst xmlns:a="http://schemas.openxmlformats.org/drawingml/2006/main">
              <a:ext uri="{FF2B5EF4-FFF2-40B4-BE49-F238E27FC236}">
                <a16:creationId xmlns:a16="http://schemas.microsoft.com/office/drawing/2014/main" id="{6C4283B0-9810-4107-85BD-4AC83583C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105150"/>
            <a:ext cx="21907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18" name="agent-revision">
            <a:extLst xmlns:a="http://schemas.openxmlformats.org/drawingml/2006/main">
              <a:ext uri="{FF2B5EF4-FFF2-40B4-BE49-F238E27FC236}">
                <a16:creationId xmlns:a16="http://schemas.microsoft.com/office/drawing/2014/main" id="{439422EE-F87C-4D31-A98F-84170B0FE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3925" y="4400550"/>
            <a:ext cx="21907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19" name="agent-perception-t">
            <a:extLst xmlns:a="http://schemas.openxmlformats.org/drawingml/2006/main">
              <a:ext uri="{FF2B5EF4-FFF2-40B4-BE49-F238E27FC236}">
                <a16:creationId xmlns:a16="http://schemas.microsoft.com/office/drawing/2014/main" id="{1E3BC1D8-500A-42C5-B9BD-E489B405E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228850"/>
            <a:ext cx="1809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050505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Perception Agent</a:t>
            </a:r>
          </a:p>
        </p:txBody>
      </p:sp>
      <p:sp>
        <p:nvSpPr>
          <p:cNvPr id="20" name="agent-perception-b">
            <a:extLst xmlns:a="http://schemas.openxmlformats.org/drawingml/2006/main">
              <a:ext uri="{FF2B5EF4-FFF2-40B4-BE49-F238E27FC236}">
                <a16:creationId xmlns:a16="http://schemas.microsoft.com/office/drawing/2014/main" id="{3344390B-2199-4631-818C-10E0F4D37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552700"/>
            <a:ext cx="1809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提取并对齐证据</a:t>
            </a:r>
          </a:p>
        </p:txBody>
      </p:sp>
      <p:sp>
        <p:nvSpPr>
          <p:cNvPr id="21" name="agent-sop-t">
            <a:extLst xmlns:a="http://schemas.openxmlformats.org/drawingml/2006/main">
              <a:ext uri="{FF2B5EF4-FFF2-40B4-BE49-F238E27FC236}">
                <a16:creationId xmlns:a16="http://schemas.microsoft.com/office/drawing/2014/main" id="{360D44D5-13EF-41E3-95FC-2BD3A555C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228850"/>
            <a:ext cx="1809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050505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SOP Agent</a:t>
            </a:r>
          </a:p>
        </p:txBody>
      </p:sp>
      <p:sp>
        <p:nvSpPr>
          <p:cNvPr id="22" name="agent-sop-b">
            <a:extLst xmlns:a="http://schemas.openxmlformats.org/drawingml/2006/main">
              <a:ext uri="{FF2B5EF4-FFF2-40B4-BE49-F238E27FC236}">
                <a16:creationId xmlns:a16="http://schemas.microsoft.com/office/drawing/2014/main" id="{10D1C2F6-BF42-4868-BA1D-23E0A1ADE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552700"/>
            <a:ext cx="1809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规划步骤与依赖</a:t>
            </a:r>
          </a:p>
        </p:txBody>
      </p:sp>
      <p:sp>
        <p:nvSpPr>
          <p:cNvPr id="23" name="agent-creator-t">
            <a:extLst xmlns:a="http://schemas.openxmlformats.org/drawingml/2006/main">
              <a:ext uri="{FF2B5EF4-FFF2-40B4-BE49-F238E27FC236}">
                <a16:creationId xmlns:a16="http://schemas.microsoft.com/office/drawing/2014/main" id="{01495BDF-6E28-4067-83EA-BFFED3C4E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257550"/>
            <a:ext cx="1809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050505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Creator Agent</a:t>
            </a:r>
          </a:p>
        </p:txBody>
      </p:sp>
      <p:sp>
        <p:nvSpPr>
          <p:cNvPr id="24" name="agent-creator-b">
            <a:extLst xmlns:a="http://schemas.openxmlformats.org/drawingml/2006/main">
              <a:ext uri="{FF2B5EF4-FFF2-40B4-BE49-F238E27FC236}">
                <a16:creationId xmlns:a16="http://schemas.microsoft.com/office/drawing/2014/main" id="{C09E8266-FBB7-4957-87F9-6E75078EA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581400"/>
            <a:ext cx="1809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生成培训内容</a:t>
            </a:r>
          </a:p>
        </p:txBody>
      </p:sp>
      <p:sp>
        <p:nvSpPr>
          <p:cNvPr id="25" name="agent-verifier-t">
            <a:extLst xmlns:a="http://schemas.openxmlformats.org/drawingml/2006/main">
              <a:ext uri="{FF2B5EF4-FFF2-40B4-BE49-F238E27FC236}">
                <a16:creationId xmlns:a16="http://schemas.microsoft.com/office/drawing/2014/main" id="{73D39B40-2577-4078-9EBF-777BFFB63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257550"/>
            <a:ext cx="1809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3233A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Verifier Agent</a:t>
            </a:r>
          </a:p>
        </p:txBody>
      </p:sp>
      <p:sp>
        <p:nvSpPr>
          <p:cNvPr id="26" name="agent-verifier-b">
            <a:extLst xmlns:a="http://schemas.openxmlformats.org/drawingml/2006/main">
              <a:ext uri="{FF2B5EF4-FFF2-40B4-BE49-F238E27FC236}">
                <a16:creationId xmlns:a16="http://schemas.microsoft.com/office/drawing/2014/main" id="{35CC3C1A-63BC-4B6E-B884-FC7742FBA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581400"/>
            <a:ext cx="1809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规则 + 证据质检</a:t>
            </a:r>
          </a:p>
        </p:txBody>
      </p:sp>
      <p:sp>
        <p:nvSpPr>
          <p:cNvPr id="27" name="agent-revision-t">
            <a:extLst xmlns:a="http://schemas.openxmlformats.org/drawingml/2006/main">
              <a:ext uri="{FF2B5EF4-FFF2-40B4-BE49-F238E27FC236}">
                <a16:creationId xmlns:a16="http://schemas.microsoft.com/office/drawing/2014/main" id="{EED28CF3-3C1E-4E38-BF78-6BC118FA0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4425" y="4552950"/>
            <a:ext cx="1809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3233A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Revision Agent</a:t>
            </a:r>
          </a:p>
        </p:txBody>
      </p:sp>
      <p:sp>
        <p:nvSpPr>
          <p:cNvPr id="28" name="agent-revision-b">
            <a:extLst xmlns:a="http://schemas.openxmlformats.org/drawingml/2006/main">
              <a:ext uri="{FF2B5EF4-FFF2-40B4-BE49-F238E27FC236}">
                <a16:creationId xmlns:a16="http://schemas.microsoft.com/office/drawing/2014/main" id="{004BCADB-F442-45F2-945A-9BC512B46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4425" y="4876800"/>
            <a:ext cx="1809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只修改出错局部</a:t>
            </a:r>
          </a:p>
        </p:txBody>
      </p:sp>
      <p:sp>
        <p:nvSpPr>
          <p:cNvPr id="29" name="agent-flow-1">
            <a:extLst xmlns:a="http://schemas.openxmlformats.org/drawingml/2006/main">
              <a:ext uri="{FF2B5EF4-FFF2-40B4-BE49-F238E27FC236}">
                <a16:creationId xmlns:a16="http://schemas.microsoft.com/office/drawing/2014/main" id="{5DBB8694-F65C-4C19-875B-CFDE71DA8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2257425"/>
            <a:ext cx="2667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722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3D8DFF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→</a:t>
            </a:r>
          </a:p>
        </p:txBody>
      </p:sp>
      <p:sp>
        <p:nvSpPr>
          <p:cNvPr id="30" name="agent-flow-2">
            <a:extLst xmlns:a="http://schemas.openxmlformats.org/drawingml/2006/main">
              <a:ext uri="{FF2B5EF4-FFF2-40B4-BE49-F238E27FC236}">
                <a16:creationId xmlns:a16="http://schemas.microsoft.com/office/drawing/2014/main" id="{E0AFDE2D-864E-4FFC-8466-B7FCC7CB0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867025"/>
            <a:ext cx="2667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722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3D8DFF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↓</a:t>
            </a:r>
          </a:p>
        </p:txBody>
      </p:sp>
      <p:sp>
        <p:nvSpPr>
          <p:cNvPr id="31" name="agent-flow-3">
            <a:extLst xmlns:a="http://schemas.openxmlformats.org/drawingml/2006/main">
              <a:ext uri="{FF2B5EF4-FFF2-40B4-BE49-F238E27FC236}">
                <a16:creationId xmlns:a16="http://schemas.microsoft.com/office/drawing/2014/main" id="{F1AA78B7-7FA3-4EB8-84AD-2D3A6669D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3286125"/>
            <a:ext cx="2667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722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3D8DFF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←</a:t>
            </a:r>
          </a:p>
        </p:txBody>
      </p:sp>
      <p:sp>
        <p:nvSpPr>
          <p:cNvPr id="32" name="agent-flow-4">
            <a:extLst xmlns:a="http://schemas.openxmlformats.org/drawingml/2006/main">
              <a:ext uri="{FF2B5EF4-FFF2-40B4-BE49-F238E27FC236}">
                <a16:creationId xmlns:a16="http://schemas.microsoft.com/office/drawing/2014/main" id="{B6AB79D8-2525-451E-B926-D040194D8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4000500"/>
            <a:ext cx="1143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3D8DFF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↓ 修订</a:t>
            </a:r>
          </a:p>
        </p:txBody>
      </p:sp>
      <p:sp>
        <p:nvSpPr>
          <p:cNvPr id="33" name="agent-flow-5">
            <a:extLst xmlns:a="http://schemas.openxmlformats.org/drawingml/2006/main">
              <a:ext uri="{FF2B5EF4-FFF2-40B4-BE49-F238E27FC236}">
                <a16:creationId xmlns:a16="http://schemas.microsoft.com/office/drawing/2014/main" id="{CBD75110-424E-46F5-ADF5-6EB4B19AB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4000500"/>
            <a:ext cx="1143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3D8DFF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↑ 复检</a:t>
            </a:r>
          </a:p>
        </p:txBody>
      </p:sp>
      <p:sp>
        <p:nvSpPr>
          <p:cNvPr id="34" name="output-arrow">
            <a:extLst xmlns:a="http://schemas.openxmlformats.org/drawingml/2006/main">
              <a:ext uri="{FF2B5EF4-FFF2-40B4-BE49-F238E27FC236}">
                <a16:creationId xmlns:a16="http://schemas.microsoft.com/office/drawing/2014/main" id="{6530646C-BD70-4D06-A62B-43B256DDA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057525"/>
            <a:ext cx="4572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3D8DFF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→</a:t>
            </a:r>
          </a:p>
        </p:txBody>
      </p:sp>
      <p:sp>
        <p:nvSpPr>
          <p:cNvPr id="35" name="output-label">
            <a:extLst xmlns:a="http://schemas.openxmlformats.org/drawingml/2006/main">
              <a:ext uri="{FF2B5EF4-FFF2-40B4-BE49-F238E27FC236}">
                <a16:creationId xmlns:a16="http://schemas.microsoft.com/office/drawing/2014/main" id="{F1C6C712-2BD2-4DA4-A417-84EC69DBF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447800"/>
            <a:ext cx="1714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OUTPUTS</a:t>
            </a:r>
          </a:p>
        </p:txBody>
      </p:sp>
      <p:sp>
        <p:nvSpPr>
          <p:cNvPr id="36" name="output-list">
            <a:extLst xmlns:a="http://schemas.openxmlformats.org/drawingml/2006/main">
              <a:ext uri="{FF2B5EF4-FFF2-40B4-BE49-F238E27FC236}">
                <a16:creationId xmlns:a16="http://schemas.microsoft.com/office/drawing/2014/main" id="{806BCF8A-687A-4578-AE0B-1D354EEB6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924050"/>
            <a:ext cx="2324100" cy="2990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50505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结构化 SOP
手机检查清单
培训测验
A4 海报
60–90秒培训视频
质检与修订记录</a:t>
            </a:r>
          </a:p>
        </p:txBody>
      </p:sp>
      <p:sp>
        <p:nvSpPr>
          <p:cNvPr id="37" name="loop-claim">
            <a:extLst xmlns:a="http://schemas.openxmlformats.org/drawingml/2006/main">
              <a:ext uri="{FF2B5EF4-FFF2-40B4-BE49-F238E27FC236}">
                <a16:creationId xmlns:a16="http://schemas.microsoft.com/office/drawing/2014/main" id="{15F4D661-6D41-4877-8C35-93130811A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048250"/>
            <a:ext cx="23241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38" name="loop-claim-text">
            <a:extLst xmlns:a="http://schemas.openxmlformats.org/drawingml/2006/main">
              <a:ext uri="{FF2B5EF4-FFF2-40B4-BE49-F238E27FC236}">
                <a16:creationId xmlns:a16="http://schemas.microsoft.com/office/drawing/2014/main" id="{9801BCE8-E60C-4681-8F5E-3C391B0C7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6425" y="5181600"/>
            <a:ext cx="20002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FFFFFF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证据定位贯穿全链路</a:t>
            </a:r>
          </a:p>
        </p:txBody>
      </p:sp>
      <p:sp>
        <p:nvSpPr>
          <p:cNvPr id="39" name="footer-line-3">
            <a:extLst xmlns:a="http://schemas.openxmlformats.org/drawingml/2006/main">
              <a:ext uri="{FF2B5EF4-FFF2-40B4-BE49-F238E27FC236}">
                <a16:creationId xmlns:a16="http://schemas.microsoft.com/office/drawing/2014/main" id="{50DD9D74-1186-4079-8657-E56E7DEC5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11353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E0"/>
          </a:solidFill>
          <a:ln xmlns:a="http://schemas.openxmlformats.org/drawingml/2006/main" w="0">
            <a:solidFill>
              <a:srgbClr val="D7DAE0"/>
            </a:solidFill>
            <a:prstDash val="solid"/>
          </a:ln>
        </p:spPr>
      </p:sp>
      <p:sp>
        <p:nvSpPr>
          <p:cNvPr id="40" name="footer-source-3">
            <a:extLst xmlns:a="http://schemas.openxmlformats.org/drawingml/2006/main">
              <a:ext uri="{FF2B5EF4-FFF2-40B4-BE49-F238E27FC236}">
                <a16:creationId xmlns:a16="http://schemas.microsoft.com/office/drawing/2014/main" id="{CB716B1A-E765-4487-B595-ED3793811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543675"/>
            <a:ext cx="10287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SkillForge P0工作流：素材解析 → 规划 → 创作 → 质检 → 局部修订 → 输出</a:t>
            </a:r>
          </a:p>
        </p:txBody>
      </p:sp>
      <p:sp>
        <p:nvSpPr>
          <p:cNvPr id="41" name="footer-page-3">
            <a:extLst xmlns:a="http://schemas.openxmlformats.org/drawingml/2006/main">
              <a:ext uri="{FF2B5EF4-FFF2-40B4-BE49-F238E27FC236}">
                <a16:creationId xmlns:a16="http://schemas.microsoft.com/office/drawing/2014/main" id="{3B734927-1B70-4C10-B2E2-CE9956FF8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43675"/>
            <a:ext cx="5334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3/8</a:t>
            </a:r>
          </a:p>
        </p:txBody>
      </p:sp>
    </p:spTree>
    <p:extLst>
      <p:ext uri="{BB962C8B-B14F-4D97-AF65-F5344CB8AC3E}">
        <p14:creationId xmlns:p14="http://schemas.microsoft.com/office/powerpoint/2010/main" val="57686998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kicker-4">
            <a:extLst xmlns:a="http://schemas.openxmlformats.org/drawingml/2006/main">
              <a:ext uri="{FF2B5EF4-FFF2-40B4-BE49-F238E27FC236}">
                <a16:creationId xmlns:a16="http://schemas.microsoft.com/office/drawing/2014/main" id="{6420C48D-3DCC-48BA-939E-FD08123DA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85750"/>
            <a:ext cx="5905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D8DFF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LIVE DEMO · CONTROLLED GOLD FAULT SET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43694B9E-EE08-4B8D-AF88-DA21FADEF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42925"/>
            <a:ext cx="106680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050505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Verifier 发现5个严重问题，只改动4处</a:t>
            </a:r>
          </a:p>
        </p:txBody>
      </p:sp>
      <p:sp>
        <p:nvSpPr>
          <p:cNvPr id="3" name="number-4">
            <a:extLst xmlns:a="http://schemas.openxmlformats.org/drawingml/2006/main">
              <a:ext uri="{FF2B5EF4-FFF2-40B4-BE49-F238E27FC236}">
                <a16:creationId xmlns:a16="http://schemas.microsoft.com/office/drawing/2014/main" id="{2DF94F8A-A97A-4246-BC5D-7D57FFD10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23850"/>
            <a:ext cx="533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04</a:t>
            </a:r>
          </a:p>
        </p:txBody>
      </p:sp>
      <p:sp>
        <p:nvSpPr>
          <p:cNvPr id="4" name="issue-shot-frame">
            <a:extLst xmlns:a="http://schemas.openxmlformats.org/drawingml/2006/main">
              <a:ext uri="{FF2B5EF4-FFF2-40B4-BE49-F238E27FC236}">
                <a16:creationId xmlns:a16="http://schemas.microsoft.com/office/drawing/2014/main" id="{132B6F45-5B7B-4574-B116-24CB41B47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28750"/>
            <a:ext cx="6991350" cy="12954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0B1713"/>
          </a:solidFill>
          <a:ln xmlns:a="http://schemas.openxmlformats.org/drawingml/2006/main" w="0">
            <a:solidFill>
              <a:srgbClr val="0B1713"/>
            </a:solidFill>
            <a:prstDash val="solid"/>
          </a:ln>
        </p:spPr>
      </p:sp>
      <p:pic>
        <p:nvPicPr>
          <p:cNvPr id="36" name="Web首个问题与证据截图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b3a0fc20954400"/>
          <a:srcRect xmlns:a="http://schemas.openxmlformats.org/drawingml/2006/main" l="519" t="0" r="51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19100" y="1428750"/>
            <a:ext cx="6991350" cy="1295400"/>
          </a:xfrm>
          <a:prstGeom xmlns:a="http://schemas.openxmlformats.org/drawingml/2006/main" prst="roundRect">
            <a:avLst>
              <a:gd name="adj" fmla="val 8824"/>
            </a:avLst>
          </a:prstGeom>
        </p:spPr>
      </p:pic>
      <p:sp>
        <p:nvSpPr>
          <p:cNvPr id="6" name="issue-proof-note">
            <a:extLst xmlns:a="http://schemas.openxmlformats.org/drawingml/2006/main">
              <a:ext uri="{FF2B5EF4-FFF2-40B4-BE49-F238E27FC236}">
                <a16:creationId xmlns:a16="http://schemas.microsoft.com/office/drawing/2014/main" id="{D2BE4AC6-348D-4B03-8E90-8D54B076F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971800"/>
            <a:ext cx="69913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3233A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同一问题同时引用：视频 E039 / E077 · 手册 E104 P20 · 操作者口述 E148 / E149 / E151 / E153</a:t>
            </a:r>
          </a:p>
        </p:txBody>
      </p:sp>
      <p:sp>
        <p:nvSpPr>
          <p:cNvPr id="7" name="metric-five-zero">
            <a:extLst xmlns:a="http://schemas.openxmlformats.org/drawingml/2006/main">
              <a:ext uri="{FF2B5EF4-FFF2-40B4-BE49-F238E27FC236}">
                <a16:creationId xmlns:a16="http://schemas.microsoft.com/office/drawing/2014/main" id="{1C3A0C5B-9ECB-480F-A8DB-4D2213179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1428750"/>
            <a:ext cx="407670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8" name="metric-five-zero-label">
            <a:extLst xmlns:a="http://schemas.openxmlformats.org/drawingml/2006/main">
              <a:ext uri="{FF2B5EF4-FFF2-40B4-BE49-F238E27FC236}">
                <a16:creationId xmlns:a16="http://schemas.microsoft.com/office/drawing/2014/main" id="{B6654399-B676-44FB-9739-457B2888C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695450"/>
            <a:ext cx="1714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严重错误</a:t>
            </a:r>
          </a:p>
        </p:txBody>
      </p:sp>
      <p:sp>
        <p:nvSpPr>
          <p:cNvPr id="9" name="metric-five-zero-value">
            <a:extLst xmlns:a="http://schemas.openxmlformats.org/drawingml/2006/main">
              <a:ext uri="{FF2B5EF4-FFF2-40B4-BE49-F238E27FC236}">
                <a16:creationId xmlns:a16="http://schemas.microsoft.com/office/drawing/2014/main" id="{26EB3E13-51DF-40B8-AC1A-A4E80AAC5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076450"/>
            <a:ext cx="32385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550" b="1">
                <a:solidFill>
                  <a:srgbClr val="050505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5 → 0</a:t>
            </a:r>
          </a:p>
        </p:txBody>
      </p:sp>
      <p:sp>
        <p:nvSpPr>
          <p:cNvPr id="10" name="metric-five-zero-note">
            <a:extLst xmlns:a="http://schemas.openxmlformats.org/drawingml/2006/main">
              <a:ext uri="{FF2B5EF4-FFF2-40B4-BE49-F238E27FC236}">
                <a16:creationId xmlns:a16="http://schemas.microsoft.com/office/drawing/2014/main" id="{12330EDA-49E5-431D-BC26-2081591F9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067050"/>
            <a:ext cx="2000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复检后归零</a:t>
            </a:r>
          </a:p>
        </p:txBody>
      </p:sp>
      <p:sp>
        <p:nvSpPr>
          <p:cNvPr id="11" name="issue-kinds-label">
            <a:extLst xmlns:a="http://schemas.openxmlformats.org/drawingml/2006/main">
              <a:ext uri="{FF2B5EF4-FFF2-40B4-BE49-F238E27FC236}">
                <a16:creationId xmlns:a16="http://schemas.microsoft.com/office/drawing/2014/main" id="{6EF67CE2-FD4A-4C59-BF01-C809F5508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962400"/>
            <a:ext cx="1714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发现什么</a:t>
            </a:r>
          </a:p>
        </p:txBody>
      </p:sp>
      <p:sp>
        <p:nvSpPr>
          <p:cNvPr id="12" name="issue-kind-1">
            <a:extLst xmlns:a="http://schemas.openxmlformats.org/drawingml/2006/main">
              <a:ext uri="{FF2B5EF4-FFF2-40B4-BE49-F238E27FC236}">
                <a16:creationId xmlns:a16="http://schemas.microsoft.com/office/drawing/2014/main" id="{D066F4CB-2343-4755-B3F4-C4D0FE24A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324350"/>
            <a:ext cx="21526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2F3F5"/>
          </a:solidFill>
          <a:ln xmlns:a="http://schemas.openxmlformats.org/drawingml/2006/main" w="0">
            <a:solidFill>
              <a:srgbClr val="F2F3F5"/>
            </a:solidFill>
            <a:prstDash val="solid"/>
          </a:ln>
        </p:spPr>
      </p:sp>
      <p:sp>
        <p:nvSpPr>
          <p:cNvPr id="13" name="issue-kind-2">
            <a:extLst xmlns:a="http://schemas.openxmlformats.org/drawingml/2006/main">
              <a:ext uri="{FF2B5EF4-FFF2-40B4-BE49-F238E27FC236}">
                <a16:creationId xmlns:a16="http://schemas.microsoft.com/office/drawing/2014/main" id="{BBC3965C-9B92-4407-9F67-0B444D739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324350"/>
            <a:ext cx="21526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2F3F5"/>
          </a:solidFill>
          <a:ln xmlns:a="http://schemas.openxmlformats.org/drawingml/2006/main" w="0">
            <a:solidFill>
              <a:srgbClr val="F2F3F5"/>
            </a:solidFill>
            <a:prstDash val="solid"/>
          </a:ln>
        </p:spPr>
      </p:sp>
      <p:sp>
        <p:nvSpPr>
          <p:cNvPr id="14" name="issue-kind-3">
            <a:extLst xmlns:a="http://schemas.openxmlformats.org/drawingml/2006/main">
              <a:ext uri="{FF2B5EF4-FFF2-40B4-BE49-F238E27FC236}">
                <a16:creationId xmlns:a16="http://schemas.microsoft.com/office/drawing/2014/main" id="{34160CCC-F6CB-44F4-B804-CF441A06A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324350"/>
            <a:ext cx="22669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2F3F5"/>
          </a:solidFill>
          <a:ln xmlns:a="http://schemas.openxmlformats.org/drawingml/2006/main" w="0">
            <a:solidFill>
              <a:srgbClr val="F2F3F5"/>
            </a:solidFill>
            <a:prstDash val="solid"/>
          </a:ln>
        </p:spPr>
      </p:sp>
      <p:sp>
        <p:nvSpPr>
          <p:cNvPr id="15" name="issue-kind-1-t">
            <a:extLst xmlns:a="http://schemas.openxmlformats.org/drawingml/2006/main">
              <a:ext uri="{FF2B5EF4-FFF2-40B4-BE49-F238E27FC236}">
                <a16:creationId xmlns:a16="http://schemas.microsoft.com/office/drawing/2014/main" id="{49A551CF-496F-4D66-8511-D6C6FD5BE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24375"/>
            <a:ext cx="17145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8765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F35B62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缺步骤</a:t>
            </a:r>
          </a:p>
        </p:txBody>
      </p:sp>
      <p:sp>
        <p:nvSpPr>
          <p:cNvPr id="16" name="issue-kind-1-b">
            <a:extLst xmlns:a="http://schemas.openxmlformats.org/drawingml/2006/main">
              <a:ext uri="{FF2B5EF4-FFF2-40B4-BE49-F238E27FC236}">
                <a16:creationId xmlns:a16="http://schemas.microsoft.com/office/drawing/2014/main" id="{9DC6C3E0-200F-4F7F-BE6F-AEDC6DEAF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81575"/>
            <a:ext cx="1714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050505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遗漏S09缝标学习</a:t>
            </a:r>
          </a:p>
        </p:txBody>
      </p:sp>
      <p:sp>
        <p:nvSpPr>
          <p:cNvPr id="17" name="issue-kind-2-t">
            <a:extLst xmlns:a="http://schemas.openxmlformats.org/drawingml/2006/main">
              <a:ext uri="{FF2B5EF4-FFF2-40B4-BE49-F238E27FC236}">
                <a16:creationId xmlns:a16="http://schemas.microsoft.com/office/drawing/2014/main" id="{13EBE3F6-7924-461B-BD8D-0D73CF33E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524375"/>
            <a:ext cx="17145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8765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F35B62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顺序错误</a:t>
            </a:r>
          </a:p>
        </p:txBody>
      </p:sp>
      <p:sp>
        <p:nvSpPr>
          <p:cNvPr id="18" name="issue-kind-2-b">
            <a:extLst xmlns:a="http://schemas.openxmlformats.org/drawingml/2006/main">
              <a:ext uri="{FF2B5EF4-FFF2-40B4-BE49-F238E27FC236}">
                <a16:creationId xmlns:a16="http://schemas.microsoft.com/office/drawing/2014/main" id="{2EAAF3D1-C2FB-42A3-B4A6-609264EE0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981575"/>
            <a:ext cx="1714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050505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S07必须先于S08</a:t>
            </a:r>
          </a:p>
        </p:txBody>
      </p:sp>
      <p:sp>
        <p:nvSpPr>
          <p:cNvPr id="19" name="issue-kind-3-t">
            <a:extLst xmlns:a="http://schemas.openxmlformats.org/drawingml/2006/main">
              <a:ext uri="{FF2B5EF4-FFF2-40B4-BE49-F238E27FC236}">
                <a16:creationId xmlns:a16="http://schemas.microsoft.com/office/drawing/2014/main" id="{B049A7E9-A3BD-4DA8-828B-393356DC5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524375"/>
            <a:ext cx="1809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8765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F35B62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无依据内容</a:t>
            </a:r>
          </a:p>
        </p:txBody>
      </p:sp>
      <p:sp>
        <p:nvSpPr>
          <p:cNvPr id="20" name="issue-kind-3-b">
            <a:extLst xmlns:a="http://schemas.openxmlformats.org/drawingml/2006/main">
              <a:ext uri="{FF2B5EF4-FFF2-40B4-BE49-F238E27FC236}">
                <a16:creationId xmlns:a16="http://schemas.microsoft.com/office/drawing/2014/main" id="{843E09A2-EF7D-475C-AE28-98AEE698A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981575"/>
            <a:ext cx="1809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050505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工具与参数按规则拒绝</a:t>
            </a:r>
          </a:p>
        </p:txBody>
      </p:sp>
      <p:sp>
        <p:nvSpPr>
          <p:cNvPr id="21" name="local-edits">
            <a:extLst xmlns:a="http://schemas.openxmlformats.org/drawingml/2006/main">
              <a:ext uri="{FF2B5EF4-FFF2-40B4-BE49-F238E27FC236}">
                <a16:creationId xmlns:a16="http://schemas.microsoft.com/office/drawing/2014/main" id="{1B33A1A3-A8A8-4B21-94D8-C95ECF225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962400"/>
            <a:ext cx="4076700" cy="14859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22" name="local-edits-n">
            <a:extLst xmlns:a="http://schemas.openxmlformats.org/drawingml/2006/main">
              <a:ext uri="{FF2B5EF4-FFF2-40B4-BE49-F238E27FC236}">
                <a16:creationId xmlns:a16="http://schemas.microsoft.com/office/drawing/2014/main" id="{B6277E7E-2D89-48B8-843B-512A09DAE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133850"/>
            <a:ext cx="99060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100" b="1">
                <a:solidFill>
                  <a:srgbClr val="FFFFFF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4</a:t>
            </a:r>
          </a:p>
        </p:txBody>
      </p:sp>
      <p:sp>
        <p:nvSpPr>
          <p:cNvPr id="23" name="local-edits-title">
            <a:extLst xmlns:a="http://schemas.openxmlformats.org/drawingml/2006/main">
              <a:ext uri="{FF2B5EF4-FFF2-40B4-BE49-F238E27FC236}">
                <a16:creationId xmlns:a16="http://schemas.microsoft.com/office/drawing/2014/main" id="{8F3B164D-EE44-4CDA-A36D-3461D9B5C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257675"/>
            <a:ext cx="2286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FFFFFF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处局部修订</a:t>
            </a:r>
          </a:p>
        </p:txBody>
      </p:sp>
      <p:sp>
        <p:nvSpPr>
          <p:cNvPr id="24" name="local-edits-list">
            <a:extLst xmlns:a="http://schemas.openxmlformats.org/drawingml/2006/main">
              <a:ext uri="{FF2B5EF4-FFF2-40B4-BE49-F238E27FC236}">
                <a16:creationId xmlns:a16="http://schemas.microsoft.com/office/drawing/2014/main" id="{40065D0D-2675-44F4-9804-C0F93CD3C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686300"/>
            <a:ext cx="23241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插入 · 重排 · 删除工具 · 删除参数</a:t>
            </a:r>
          </a:p>
        </p:txBody>
      </p:sp>
      <p:sp>
        <p:nvSpPr>
          <p:cNvPr id="25" name="demo-honesty">
            <a:extLst xmlns:a="http://schemas.openxmlformats.org/drawingml/2006/main">
              <a:ext uri="{FF2B5EF4-FFF2-40B4-BE49-F238E27FC236}">
                <a16:creationId xmlns:a16="http://schemas.microsoft.com/office/drawing/2014/main" id="{284D7102-64B5-4DFB-BED3-406F95844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715000"/>
            <a:ext cx="113538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26" name="demo-honesty-text">
            <a:extLst xmlns:a="http://schemas.openxmlformats.org/drawingml/2006/main">
              <a:ext uri="{FF2B5EF4-FFF2-40B4-BE49-F238E27FC236}">
                <a16:creationId xmlns:a16="http://schemas.microsoft.com/office/drawing/2014/main" id="{97D4F260-B444-4303-B23B-FEC538965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57875"/>
            <a:ext cx="109347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3233A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现场重算＝操作者审核 Gold 的受控错误集；稳定验证质检与修订，不冒充原始素材实时推理。</a:t>
            </a:r>
          </a:p>
        </p:txBody>
      </p:sp>
      <p:sp>
        <p:nvSpPr>
          <p:cNvPr id="27" name="footer-line-4">
            <a:extLst xmlns:a="http://schemas.openxmlformats.org/drawingml/2006/main">
              <a:ext uri="{FF2B5EF4-FFF2-40B4-BE49-F238E27FC236}">
                <a16:creationId xmlns:a16="http://schemas.microsoft.com/office/drawing/2014/main" id="{612D52A6-292F-4813-9FC5-5B6EDE814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11353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E0"/>
          </a:solidFill>
          <a:ln xmlns:a="http://schemas.openxmlformats.org/drawingml/2006/main" w="0">
            <a:solidFill>
              <a:srgbClr val="D7DAE0"/>
            </a:solidFill>
            <a:prstDash val="solid"/>
          </a:ln>
        </p:spPr>
      </p:sp>
      <p:sp>
        <p:nvSpPr>
          <p:cNvPr id="28" name="footer-source-4">
            <a:extLst xmlns:a="http://schemas.openxmlformats.org/drawingml/2006/main">
              <a:ext uri="{FF2B5EF4-FFF2-40B4-BE49-F238E27FC236}">
                <a16:creationId xmlns:a16="http://schemas.microsoft.com/office/drawing/2014/main" id="{66A69A33-EC14-428A-A17F-C1178FD28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543675"/>
            <a:ext cx="10287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来源：N31 Gold演示包 summary / initial_conflicts / revision_audit</a:t>
            </a:r>
          </a:p>
        </p:txBody>
      </p:sp>
      <p:sp>
        <p:nvSpPr>
          <p:cNvPr id="29" name="footer-page-4">
            <a:extLst xmlns:a="http://schemas.openxmlformats.org/drawingml/2006/main">
              <a:ext uri="{FF2B5EF4-FFF2-40B4-BE49-F238E27FC236}">
                <a16:creationId xmlns:a16="http://schemas.microsoft.com/office/drawing/2014/main" id="{7C698D56-7DB6-48FE-ADF4-3867E2D87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43675"/>
            <a:ext cx="5334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4/8</a:t>
            </a:r>
          </a:p>
        </p:txBody>
      </p:sp>
    </p:spTree>
    <p:extLst>
      <p:ext uri="{BB962C8B-B14F-4D97-AF65-F5344CB8AC3E}">
        <p14:creationId xmlns:p14="http://schemas.microsoft.com/office/powerpoint/2010/main" val="88389362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kicker-5">
            <a:extLst xmlns:a="http://schemas.openxmlformats.org/drawingml/2006/main">
              <a:ext uri="{FF2B5EF4-FFF2-40B4-BE49-F238E27FC236}">
                <a16:creationId xmlns:a16="http://schemas.microsoft.com/office/drawing/2014/main" id="{8A716ED3-3780-4726-A8BD-7B287991D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85750"/>
            <a:ext cx="5905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D8DFF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TRACEABILITY · NOT JUST CITATIONS</a:t>
            </a:r>
          </a:p>
        </p:txBody>
      </p:sp>
      <p:sp>
        <p:nvSpPr>
          <p:cNvPr id="2" name="title-5">
            <a:extLst xmlns:a="http://schemas.openxmlformats.org/drawingml/2006/main">
              <a:ext uri="{FF2B5EF4-FFF2-40B4-BE49-F238E27FC236}">
                <a16:creationId xmlns:a16="http://schemas.microsoft.com/office/drawing/2014/main" id="{499F3A20-88AC-407C-A184-4E0691B78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42925"/>
            <a:ext cx="106680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050505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每一步，都能回到页码或时间点</a:t>
            </a:r>
          </a:p>
        </p:txBody>
      </p:sp>
      <p:sp>
        <p:nvSpPr>
          <p:cNvPr id="3" name="number-5">
            <a:extLst xmlns:a="http://schemas.openxmlformats.org/drawingml/2006/main">
              <a:ext uri="{FF2B5EF4-FFF2-40B4-BE49-F238E27FC236}">
                <a16:creationId xmlns:a16="http://schemas.microsoft.com/office/drawing/2014/main" id="{DFEDCFB9-B8EC-437B-B885-1D3E5016D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23850"/>
            <a:ext cx="533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05</a:t>
            </a:r>
          </a:p>
        </p:txBody>
      </p:sp>
      <p:sp>
        <p:nvSpPr>
          <p:cNvPr id="4" name="evidence-stat-1">
            <a:extLst xmlns:a="http://schemas.openxmlformats.org/drawingml/2006/main">
              <a:ext uri="{FF2B5EF4-FFF2-40B4-BE49-F238E27FC236}">
                <a16:creationId xmlns:a16="http://schemas.microsoft.com/office/drawing/2014/main" id="{2596A5A7-36FC-4483-897A-F39A9481D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257175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5" name="evidence-stat-2">
            <a:extLst xmlns:a="http://schemas.openxmlformats.org/drawingml/2006/main">
              <a:ext uri="{FF2B5EF4-FFF2-40B4-BE49-F238E27FC236}">
                <a16:creationId xmlns:a16="http://schemas.microsoft.com/office/drawing/2014/main" id="{D5C55EBE-BEAC-4765-919F-6BDA7B45C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409700"/>
            <a:ext cx="257175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2F3F5"/>
          </a:solidFill>
          <a:ln xmlns:a="http://schemas.openxmlformats.org/drawingml/2006/main" w="0">
            <a:solidFill>
              <a:srgbClr val="F2F3F5"/>
            </a:solidFill>
            <a:prstDash val="solid"/>
          </a:ln>
        </p:spPr>
      </p:sp>
      <p:sp>
        <p:nvSpPr>
          <p:cNvPr id="6" name="evidence-stat-3">
            <a:extLst xmlns:a="http://schemas.openxmlformats.org/drawingml/2006/main">
              <a:ext uri="{FF2B5EF4-FFF2-40B4-BE49-F238E27FC236}">
                <a16:creationId xmlns:a16="http://schemas.microsoft.com/office/drawing/2014/main" id="{06987158-033E-4EC5-9D81-F8687FF2B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409700"/>
            <a:ext cx="257175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2F3F5"/>
          </a:solidFill>
          <a:ln xmlns:a="http://schemas.openxmlformats.org/drawingml/2006/main" w="0">
            <a:solidFill>
              <a:srgbClr val="F2F3F5"/>
            </a:solidFill>
            <a:prstDash val="solid"/>
          </a:ln>
        </p:spPr>
      </p:sp>
      <p:sp>
        <p:nvSpPr>
          <p:cNvPr id="7" name="evidence-stat-1-v">
            <a:extLst xmlns:a="http://schemas.openxmlformats.org/drawingml/2006/main">
              <a:ext uri="{FF2B5EF4-FFF2-40B4-BE49-F238E27FC236}">
                <a16:creationId xmlns:a16="http://schemas.microsoft.com/office/drawing/2014/main" id="{15EA04BC-5611-4E93-88F3-3F2F12D48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81150"/>
            <a:ext cx="20955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9415"/>
          </a:bodyPr>
          <a:lstStyle xmlns:a="http://schemas.openxmlformats.org/drawingml/2006/main"/>
          <a:p xmlns:a="http://schemas.openxmlformats.org/drawingml/2006/main">
            <a:pPr algn="l">
              <a:buNone/>
              <a:defRPr sz="4275" b="1">
                <a:solidFill>
                  <a:srgbClr val="050505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154</a:t>
            </a:r>
          </a:p>
        </p:txBody>
      </p:sp>
      <p:sp>
        <p:nvSpPr>
          <p:cNvPr id="8" name="evidence-stat-1-l">
            <a:extLst xmlns:a="http://schemas.openxmlformats.org/drawingml/2006/main">
              <a:ext uri="{FF2B5EF4-FFF2-40B4-BE49-F238E27FC236}">
                <a16:creationId xmlns:a16="http://schemas.microsoft.com/office/drawing/2014/main" id="{447EC401-2B91-4C59-9395-352F2741E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05050"/>
            <a:ext cx="2095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Evidence Catalog</a:t>
            </a:r>
          </a:p>
        </p:txBody>
      </p:sp>
      <p:sp>
        <p:nvSpPr>
          <p:cNvPr id="9" name="evidence-stat-2-v">
            <a:extLst xmlns:a="http://schemas.openxmlformats.org/drawingml/2006/main">
              <a:ext uri="{FF2B5EF4-FFF2-40B4-BE49-F238E27FC236}">
                <a16:creationId xmlns:a16="http://schemas.microsoft.com/office/drawing/2014/main" id="{7DDFE8B8-7C24-499F-A326-C1088CB52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581150"/>
            <a:ext cx="20955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9415"/>
          </a:bodyPr>
          <a:lstStyle xmlns:a="http://schemas.openxmlformats.org/drawingml/2006/main"/>
          <a:p xmlns:a="http://schemas.openxmlformats.org/drawingml/2006/main">
            <a:pPr algn="l">
              <a:buNone/>
              <a:defRPr sz="4275" b="1">
                <a:solidFill>
                  <a:srgbClr val="050505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12</a:t>
            </a:r>
          </a:p>
        </p:txBody>
      </p:sp>
      <p:sp>
        <p:nvSpPr>
          <p:cNvPr id="10" name="evidence-stat-2-l">
            <a:extLst xmlns:a="http://schemas.openxmlformats.org/drawingml/2006/main">
              <a:ext uri="{FF2B5EF4-FFF2-40B4-BE49-F238E27FC236}">
                <a16:creationId xmlns:a16="http://schemas.microsoft.com/office/drawing/2014/main" id="{DA2C2110-B4BA-40C5-84CE-8895AAC1A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305050"/>
            <a:ext cx="2095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口述时间段</a:t>
            </a:r>
          </a:p>
        </p:txBody>
      </p:sp>
      <p:sp>
        <p:nvSpPr>
          <p:cNvPr id="11" name="evidence-stat-3-v">
            <a:extLst xmlns:a="http://schemas.openxmlformats.org/drawingml/2006/main">
              <a:ext uri="{FF2B5EF4-FFF2-40B4-BE49-F238E27FC236}">
                <a16:creationId xmlns:a16="http://schemas.microsoft.com/office/drawing/2014/main" id="{5BC7E0A1-CAA0-4145-91C2-7F939ACE5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581150"/>
            <a:ext cx="20955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9415"/>
          </a:bodyPr>
          <a:lstStyle xmlns:a="http://schemas.openxmlformats.org/drawingml/2006/main"/>
          <a:p xmlns:a="http://schemas.openxmlformats.org/drawingml/2006/main">
            <a:pPr algn="l">
              <a:buNone/>
              <a:defRPr sz="4275" b="1">
                <a:solidFill>
                  <a:srgbClr val="050505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13</a:t>
            </a:r>
          </a:p>
        </p:txBody>
      </p:sp>
      <p:sp>
        <p:nvSpPr>
          <p:cNvPr id="12" name="evidence-stat-3-l">
            <a:extLst xmlns:a="http://schemas.openxmlformats.org/drawingml/2006/main">
              <a:ext uri="{FF2B5EF4-FFF2-40B4-BE49-F238E27FC236}">
                <a16:creationId xmlns:a16="http://schemas.microsoft.com/office/drawing/2014/main" id="{DD08182D-D1AF-44F2-B879-78262EB51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05050"/>
            <a:ext cx="2095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Gold步骤</a:t>
            </a:r>
          </a:p>
        </p:txBody>
      </p:sp>
      <p:pic>
        <p:nvPicPr>
          <p:cNvPr id="51" name="N31操作画面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d1f84b0d514cf0"/>
          <a:srcRect xmlns:a="http://schemas.openxmlformats.org/drawingml/2006/main" l="0" t="8751" r="0" b="875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858250" y="1409700"/>
            <a:ext cx="2914650" cy="1352550"/>
          </a:xfrm>
          <a:prstGeom xmlns:a="http://schemas.openxmlformats.org/drawingml/2006/main" prst="roundRect">
            <a:avLst>
              <a:gd name="adj" fmla="val 8451"/>
            </a:avLst>
          </a:prstGeom>
        </p:spPr>
      </p:pic>
      <p:sp>
        <p:nvSpPr>
          <p:cNvPr id="14" name="evidence-example-label">
            <a:extLst xmlns:a="http://schemas.openxmlformats.org/drawingml/2006/main">
              <a:ext uri="{FF2B5EF4-FFF2-40B4-BE49-F238E27FC236}">
                <a16:creationId xmlns:a16="http://schemas.microsoft.com/office/drawing/2014/main" id="{12A1789D-51E5-4F3D-B8D5-EE5D61852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181350"/>
            <a:ext cx="3048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一条步骤的证据链</a:t>
            </a:r>
          </a:p>
        </p:txBody>
      </p:sp>
      <p:sp>
        <p:nvSpPr>
          <p:cNvPr id="15" name="evidence-step">
            <a:extLst xmlns:a="http://schemas.openxmlformats.org/drawingml/2006/main">
              <a:ext uri="{FF2B5EF4-FFF2-40B4-BE49-F238E27FC236}">
                <a16:creationId xmlns:a16="http://schemas.microsoft.com/office/drawing/2014/main" id="{3B540C96-7823-4AD1-998C-F4044A704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600450"/>
            <a:ext cx="2686050" cy="1847850"/>
          </a:xfrm>
          <a:prstGeom xmlns:a="http://schemas.openxmlformats.org/drawingml/2006/main" prst="roundRect">
            <a:avLst>
              <a:gd name="adj" fmla="val 6186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6" name="evidence-step-id">
            <a:extLst xmlns:a="http://schemas.openxmlformats.org/drawingml/2006/main">
              <a:ext uri="{FF2B5EF4-FFF2-40B4-BE49-F238E27FC236}">
                <a16:creationId xmlns:a16="http://schemas.microsoft.com/office/drawing/2014/main" id="{FEB65203-1041-4F50-9152-4CC66C8B2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10000"/>
            <a:ext cx="666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S09</a:t>
            </a:r>
          </a:p>
        </p:txBody>
      </p:sp>
      <p:sp>
        <p:nvSpPr>
          <p:cNvPr id="17" name="evidence-step-title">
            <a:extLst xmlns:a="http://schemas.openxmlformats.org/drawingml/2006/main">
              <a:ext uri="{FF2B5EF4-FFF2-40B4-BE49-F238E27FC236}">
                <a16:creationId xmlns:a16="http://schemas.microsoft.com/office/drawing/2014/main" id="{9069E07C-CF55-4E13-B753-E1A997DFB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38625"/>
            <a:ext cx="2152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FFFFFF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执行缝标学习</a:t>
            </a:r>
          </a:p>
        </p:txBody>
      </p:sp>
      <p:sp>
        <p:nvSpPr>
          <p:cNvPr id="18" name="evidence-step-note">
            <a:extLst xmlns:a="http://schemas.openxmlformats.org/drawingml/2006/main">
              <a:ext uri="{FF2B5EF4-FFF2-40B4-BE49-F238E27FC236}">
                <a16:creationId xmlns:a16="http://schemas.microsoft.com/office/drawing/2014/main" id="{228C6751-CFE1-4422-84BC-127434F80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10125"/>
            <a:ext cx="21526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必要步骤 · VERIFIED</a:t>
            </a:r>
          </a:p>
        </p:txBody>
      </p:sp>
      <p:sp>
        <p:nvSpPr>
          <p:cNvPr id="19" name="evidence-arrow">
            <a:extLst xmlns:a="http://schemas.openxmlformats.org/drawingml/2006/main">
              <a:ext uri="{FF2B5EF4-FFF2-40B4-BE49-F238E27FC236}">
                <a16:creationId xmlns:a16="http://schemas.microsoft.com/office/drawing/2014/main" id="{AE7D0259-84E2-4DD8-87DD-0CA2A4A5F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248150"/>
            <a:ext cx="4953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3D8DFF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→</a:t>
            </a:r>
          </a:p>
        </p:txBody>
      </p:sp>
      <p:sp>
        <p:nvSpPr>
          <p:cNvPr id="20" name="evidence-manual">
            <a:extLst xmlns:a="http://schemas.openxmlformats.org/drawingml/2006/main">
              <a:ext uri="{FF2B5EF4-FFF2-40B4-BE49-F238E27FC236}">
                <a16:creationId xmlns:a16="http://schemas.microsoft.com/office/drawing/2014/main" id="{883D89D3-11B5-417B-8FFC-4A0AAC0AE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600450"/>
            <a:ext cx="2419350" cy="1847850"/>
          </a:xfrm>
          <a:prstGeom xmlns:a="http://schemas.openxmlformats.org/drawingml/2006/main" prst="roundRect">
            <a:avLst>
              <a:gd name="adj" fmla="val 6186"/>
            </a:avLst>
          </a:prstGeom>
          <a:solidFill xmlns:a="http://schemas.openxmlformats.org/drawingml/2006/main">
            <a:srgbClr val="F2F3F5"/>
          </a:solidFill>
          <a:ln xmlns:a="http://schemas.openxmlformats.org/drawingml/2006/main" w="0">
            <a:solidFill>
              <a:srgbClr val="F2F3F5"/>
            </a:solidFill>
            <a:prstDash val="solid"/>
          </a:ln>
        </p:spPr>
      </p:sp>
      <p:sp>
        <p:nvSpPr>
          <p:cNvPr id="21" name="evidence-video">
            <a:extLst xmlns:a="http://schemas.openxmlformats.org/drawingml/2006/main">
              <a:ext uri="{FF2B5EF4-FFF2-40B4-BE49-F238E27FC236}">
                <a16:creationId xmlns:a16="http://schemas.microsoft.com/office/drawing/2014/main" id="{862269F5-A473-4BDA-8A0C-F12BF1068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600450"/>
            <a:ext cx="2419350" cy="1847850"/>
          </a:xfrm>
          <a:prstGeom xmlns:a="http://schemas.openxmlformats.org/drawingml/2006/main" prst="roundRect">
            <a:avLst>
              <a:gd name="adj" fmla="val 6186"/>
            </a:avLst>
          </a:prstGeom>
          <a:solidFill xmlns:a="http://schemas.openxmlformats.org/drawingml/2006/main">
            <a:srgbClr val="F2F3F5"/>
          </a:solidFill>
          <a:ln xmlns:a="http://schemas.openxmlformats.org/drawingml/2006/main" w="0">
            <a:solidFill>
              <a:srgbClr val="F2F3F5"/>
            </a:solidFill>
            <a:prstDash val="solid"/>
          </a:ln>
        </p:spPr>
      </p:sp>
      <p:sp>
        <p:nvSpPr>
          <p:cNvPr id="22" name="evidence-audio">
            <a:extLst xmlns:a="http://schemas.openxmlformats.org/drawingml/2006/main">
              <a:ext uri="{FF2B5EF4-FFF2-40B4-BE49-F238E27FC236}">
                <a16:creationId xmlns:a16="http://schemas.microsoft.com/office/drawing/2014/main" id="{151E5F39-C531-4122-B140-DCC752C71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600450"/>
            <a:ext cx="2686050" cy="1847850"/>
          </a:xfrm>
          <a:prstGeom xmlns:a="http://schemas.openxmlformats.org/drawingml/2006/main" prst="roundRect">
            <a:avLst>
              <a:gd name="adj" fmla="val 6186"/>
            </a:avLst>
          </a:prstGeom>
          <a:solidFill xmlns:a="http://schemas.openxmlformats.org/drawingml/2006/main">
            <a:srgbClr val="F2F3F5"/>
          </a:solidFill>
          <a:ln xmlns:a="http://schemas.openxmlformats.org/drawingml/2006/main" w="0">
            <a:solidFill>
              <a:srgbClr val="F2F3F5"/>
            </a:solidFill>
            <a:prstDash val="solid"/>
          </a:ln>
        </p:spPr>
      </p:sp>
      <p:sp>
        <p:nvSpPr>
          <p:cNvPr id="23" name="evidence-manual-k">
            <a:extLst xmlns:a="http://schemas.openxmlformats.org/drawingml/2006/main">
              <a:ext uri="{FF2B5EF4-FFF2-40B4-BE49-F238E27FC236}">
                <a16:creationId xmlns:a16="http://schemas.microsoft.com/office/drawing/2014/main" id="{76973874-2CBC-4BDE-AD2C-0F6CD5DD1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810000"/>
            <a:ext cx="666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D8DFF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PDF</a:t>
            </a:r>
          </a:p>
        </p:txBody>
      </p:sp>
      <p:sp>
        <p:nvSpPr>
          <p:cNvPr id="24" name="evidence-manual-v">
            <a:extLst xmlns:a="http://schemas.openxmlformats.org/drawingml/2006/main">
              <a:ext uri="{FF2B5EF4-FFF2-40B4-BE49-F238E27FC236}">
                <a16:creationId xmlns:a16="http://schemas.microsoft.com/office/drawing/2014/main" id="{BDCECDA9-189A-494D-9234-6DDF32C47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219575"/>
            <a:ext cx="2000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50505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E104</a:t>
            </a:r>
          </a:p>
        </p:txBody>
      </p:sp>
      <p:sp>
        <p:nvSpPr>
          <p:cNvPr id="25" name="evidence-manual-l">
            <a:extLst xmlns:a="http://schemas.openxmlformats.org/drawingml/2006/main">
              <a:ext uri="{FF2B5EF4-FFF2-40B4-BE49-F238E27FC236}">
                <a16:creationId xmlns:a16="http://schemas.microsoft.com/office/drawing/2014/main" id="{ACCF25C8-388B-4EDA-AD25-4F16C447C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781550"/>
            <a:ext cx="20002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用户手册 · P20</a:t>
            </a:r>
          </a:p>
        </p:txBody>
      </p:sp>
      <p:sp>
        <p:nvSpPr>
          <p:cNvPr id="26" name="evidence-video-k">
            <a:extLst xmlns:a="http://schemas.openxmlformats.org/drawingml/2006/main">
              <a:ext uri="{FF2B5EF4-FFF2-40B4-BE49-F238E27FC236}">
                <a16:creationId xmlns:a16="http://schemas.microsoft.com/office/drawing/2014/main" id="{27344684-405D-4742-B984-96357AC0D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810000"/>
            <a:ext cx="857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D8DFF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VIDEO</a:t>
            </a:r>
          </a:p>
        </p:txBody>
      </p:sp>
      <p:sp>
        <p:nvSpPr>
          <p:cNvPr id="27" name="evidence-video-v">
            <a:extLst xmlns:a="http://schemas.openxmlformats.org/drawingml/2006/main">
              <a:ext uri="{FF2B5EF4-FFF2-40B4-BE49-F238E27FC236}">
                <a16:creationId xmlns:a16="http://schemas.microsoft.com/office/drawing/2014/main" id="{EB8DEA56-1B46-42CD-B21E-AA1F4C3BE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219575"/>
            <a:ext cx="2000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50505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E039</a:t>
            </a:r>
          </a:p>
        </p:txBody>
      </p:sp>
      <p:sp>
        <p:nvSpPr>
          <p:cNvPr id="28" name="evidence-video-l">
            <a:extLst xmlns:a="http://schemas.openxmlformats.org/drawingml/2006/main">
              <a:ext uri="{FF2B5EF4-FFF2-40B4-BE49-F238E27FC236}">
                <a16:creationId xmlns:a16="http://schemas.microsoft.com/office/drawing/2014/main" id="{A9E40FF5-F2D9-4E37-A595-FD66F3D0D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781550"/>
            <a:ext cx="20002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190–195秒</a:t>
            </a:r>
          </a:p>
        </p:txBody>
      </p:sp>
      <p:sp>
        <p:nvSpPr>
          <p:cNvPr id="29" name="evidence-audio-k">
            <a:extLst xmlns:a="http://schemas.openxmlformats.org/drawingml/2006/main">
              <a:ext uri="{FF2B5EF4-FFF2-40B4-BE49-F238E27FC236}">
                <a16:creationId xmlns:a16="http://schemas.microsoft.com/office/drawing/2014/main" id="{89A5E844-DF25-4441-A667-DE35871CE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810000"/>
            <a:ext cx="1428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D8DFF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EXPERT AUDIO</a:t>
            </a:r>
          </a:p>
        </p:txBody>
      </p:sp>
      <p:sp>
        <p:nvSpPr>
          <p:cNvPr id="30" name="evidence-audio-v">
            <a:extLst xmlns:a="http://schemas.openxmlformats.org/drawingml/2006/main">
              <a:ext uri="{FF2B5EF4-FFF2-40B4-BE49-F238E27FC236}">
                <a16:creationId xmlns:a16="http://schemas.microsoft.com/office/drawing/2014/main" id="{A1797661-7B78-4A47-8E9A-C71E47526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219575"/>
            <a:ext cx="22288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50505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E148</a:t>
            </a:r>
          </a:p>
        </p:txBody>
      </p:sp>
      <p:sp>
        <p:nvSpPr>
          <p:cNvPr id="31" name="evidence-audio-l">
            <a:extLst xmlns:a="http://schemas.openxmlformats.org/drawingml/2006/main">
              <a:ext uri="{FF2B5EF4-FFF2-40B4-BE49-F238E27FC236}">
                <a16:creationId xmlns:a16="http://schemas.microsoft.com/office/drawing/2014/main" id="{78B457FF-0843-425A-B2A3-3987E5E87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781550"/>
            <a:ext cx="22288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153.84–195.68秒</a:t>
            </a:r>
          </a:p>
        </p:txBody>
      </p:sp>
      <p:sp>
        <p:nvSpPr>
          <p:cNvPr id="32" name="evidence-rule">
            <a:extLst xmlns:a="http://schemas.openxmlformats.org/drawingml/2006/main">
              <a:ext uri="{FF2B5EF4-FFF2-40B4-BE49-F238E27FC236}">
                <a16:creationId xmlns:a16="http://schemas.microsoft.com/office/drawing/2014/main" id="{8231F91A-2786-4ACD-9746-129D9EC11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753100"/>
            <a:ext cx="113538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33" name="evidence-rule-text">
            <a:extLst xmlns:a="http://schemas.openxmlformats.org/drawingml/2006/main">
              <a:ext uri="{FF2B5EF4-FFF2-40B4-BE49-F238E27FC236}">
                <a16:creationId xmlns:a16="http://schemas.microsoft.com/office/drawing/2014/main" id="{F44FFE31-BEBD-4272-A0BF-5BB10FF4E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76925"/>
            <a:ext cx="109347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3233A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引用存在 ≠ 证据充分：低可见度、遮挡和来源冲突会进入待复核，不会被伪装成事实。</a:t>
            </a:r>
          </a:p>
        </p:txBody>
      </p:sp>
      <p:sp>
        <p:nvSpPr>
          <p:cNvPr id="34" name="footer-line-5">
            <a:extLst xmlns:a="http://schemas.openxmlformats.org/drawingml/2006/main">
              <a:ext uri="{FF2B5EF4-FFF2-40B4-BE49-F238E27FC236}">
                <a16:creationId xmlns:a16="http://schemas.microsoft.com/office/drawing/2014/main" id="{66767BBA-A4CD-4771-A5CC-35C2CC4B0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11353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E0"/>
          </a:solidFill>
          <a:ln xmlns:a="http://schemas.openxmlformats.org/drawingml/2006/main" w="0">
            <a:solidFill>
              <a:srgbClr val="D7DAE0"/>
            </a:solidFill>
            <a:prstDash val="solid"/>
          </a:ln>
        </p:spPr>
      </p:sp>
      <p:sp>
        <p:nvSpPr>
          <p:cNvPr id="35" name="footer-source-5">
            <a:extLst xmlns:a="http://schemas.openxmlformats.org/drawingml/2006/main">
              <a:ext uri="{FF2B5EF4-FFF2-40B4-BE49-F238E27FC236}">
                <a16:creationId xmlns:a16="http://schemas.microsoft.com/office/drawing/2014/main" id="{556FEB9D-5BD0-451F-93FF-D200E3AC5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543675"/>
            <a:ext cx="10287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来源：Gold SOP与Evidence Catalog；示例为S09缝标学习</a:t>
            </a:r>
          </a:p>
        </p:txBody>
      </p:sp>
      <p:sp>
        <p:nvSpPr>
          <p:cNvPr id="36" name="footer-page-5">
            <a:extLst xmlns:a="http://schemas.openxmlformats.org/drawingml/2006/main">
              <a:ext uri="{FF2B5EF4-FFF2-40B4-BE49-F238E27FC236}">
                <a16:creationId xmlns:a16="http://schemas.microsoft.com/office/drawing/2014/main" id="{139BAD4E-B401-416B-B3BD-1F17FA27B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43675"/>
            <a:ext cx="5334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5/8</a:t>
            </a:r>
          </a:p>
        </p:txBody>
      </p:sp>
    </p:spTree>
    <p:extLst>
      <p:ext uri="{BB962C8B-B14F-4D97-AF65-F5344CB8AC3E}">
        <p14:creationId xmlns:p14="http://schemas.microsoft.com/office/powerpoint/2010/main" val="116626013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kicker-6">
            <a:extLst xmlns:a="http://schemas.openxmlformats.org/drawingml/2006/main">
              <a:ext uri="{FF2B5EF4-FFF2-40B4-BE49-F238E27FC236}">
                <a16:creationId xmlns:a16="http://schemas.microsoft.com/office/drawing/2014/main" id="{8ED5BB30-F02B-4A00-8533-6DC88DBC9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85750"/>
            <a:ext cx="5905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D8DFF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LOCAL COMPUTE · EXPLICIT CLAIM BOUNDARY</a:t>
            </a:r>
          </a:p>
        </p:txBody>
      </p:sp>
      <p:sp>
        <p:nvSpPr>
          <p:cNvPr id="2" name="title-6">
            <a:extLst xmlns:a="http://schemas.openxmlformats.org/drawingml/2006/main">
              <a:ext uri="{FF2B5EF4-FFF2-40B4-BE49-F238E27FC236}">
                <a16:creationId xmlns:a16="http://schemas.microsoft.com/office/drawing/2014/main" id="{7046AE03-F054-4702-A6AE-6D7481301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42925"/>
            <a:ext cx="106680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050505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DGX Spark：把敏感视频留在现场</a:t>
            </a:r>
          </a:p>
        </p:txBody>
      </p:sp>
      <p:sp>
        <p:nvSpPr>
          <p:cNvPr id="3" name="number-6">
            <a:extLst xmlns:a="http://schemas.openxmlformats.org/drawingml/2006/main">
              <a:ext uri="{FF2B5EF4-FFF2-40B4-BE49-F238E27FC236}">
                <a16:creationId xmlns:a16="http://schemas.microsoft.com/office/drawing/2014/main" id="{F9DBFD06-B3B3-4C15-B1E7-40AC7641E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23850"/>
            <a:ext cx="533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06</a:t>
            </a:r>
          </a:p>
        </p:txBody>
      </p:sp>
      <p:sp>
        <p:nvSpPr>
          <p:cNvPr id="4" name="dgx-metrics">
            <a:extLst xmlns:a="http://schemas.openxmlformats.org/drawingml/2006/main">
              <a:ext uri="{FF2B5EF4-FFF2-40B4-BE49-F238E27FC236}">
                <a16:creationId xmlns:a16="http://schemas.microsoft.com/office/drawing/2014/main" id="{3C729465-58AD-43FA-9D28-9250FD865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4171950" cy="4210050"/>
          </a:xfrm>
          <a:prstGeom xmlns:a="http://schemas.openxmlformats.org/drawingml/2006/main" prst="roundRect">
            <a:avLst>
              <a:gd name="adj" fmla="val 2740"/>
            </a:avLst>
          </a:prstGeom>
          <a:solidFill xmlns:a="http://schemas.openxmlformats.org/drawingml/2006/main">
            <a:srgbClr val="F2F3F5"/>
          </a:solidFill>
          <a:ln xmlns:a="http://schemas.openxmlformats.org/drawingml/2006/main" w="0">
            <a:solidFill>
              <a:srgbClr val="F2F3F5"/>
            </a:solidFill>
            <a:prstDash val="solid"/>
          </a:ln>
        </p:spPr>
      </p:sp>
      <p:sp>
        <p:nvSpPr>
          <p:cNvPr id="5" name="dgx-gpu-label">
            <a:extLst xmlns:a="http://schemas.openxmlformats.org/drawingml/2006/main">
              <a:ext uri="{FF2B5EF4-FFF2-40B4-BE49-F238E27FC236}">
                <a16:creationId xmlns:a16="http://schemas.microsoft.com/office/drawing/2014/main" id="{B93B5108-6796-48CA-84DC-47933E38E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762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GPU</a:t>
            </a:r>
          </a:p>
        </p:txBody>
      </p:sp>
      <p:sp>
        <p:nvSpPr>
          <p:cNvPr id="6" name="dgx-gpu-value">
            <a:extLst xmlns:a="http://schemas.openxmlformats.org/drawingml/2006/main">
              <a:ext uri="{FF2B5EF4-FFF2-40B4-BE49-F238E27FC236}">
                <a16:creationId xmlns:a16="http://schemas.microsoft.com/office/drawing/2014/main" id="{CE2AFC83-18B8-4942-9910-4B995024A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34290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50505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NVIDIA GB10</a:t>
            </a:r>
          </a:p>
        </p:txBody>
      </p:sp>
      <p:sp>
        <p:nvSpPr>
          <p:cNvPr id="7" name="dgx-rule">
            <a:extLst xmlns:a="http://schemas.openxmlformats.org/drawingml/2006/main">
              <a:ext uri="{FF2B5EF4-FFF2-40B4-BE49-F238E27FC236}">
                <a16:creationId xmlns:a16="http://schemas.microsoft.com/office/drawing/2014/main" id="{A15E2FDA-872A-42CC-88E9-0B33FB125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3333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E0"/>
          </a:solidFill>
          <a:ln xmlns:a="http://schemas.openxmlformats.org/drawingml/2006/main" w="0">
            <a:solidFill>
              <a:srgbClr val="D7DAE0"/>
            </a:solidFill>
            <a:prstDash val="solid"/>
          </a:ln>
        </p:spPr>
      </p:sp>
      <p:sp>
        <p:nvSpPr>
          <p:cNvPr id="8" name="dgx-6-v">
            <a:extLst xmlns:a="http://schemas.openxmlformats.org/drawingml/2006/main">
              <a:ext uri="{FF2B5EF4-FFF2-40B4-BE49-F238E27FC236}">
                <a16:creationId xmlns:a16="http://schemas.microsoft.com/office/drawing/2014/main" id="{6493D2F7-7A32-4FA1-A803-E8EEFCE84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85725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3D8DFF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6</a:t>
            </a:r>
          </a:p>
        </p:txBody>
      </p:sp>
      <p:sp>
        <p:nvSpPr>
          <p:cNvPr id="9" name="dgx-6-l">
            <a:extLst xmlns:a="http://schemas.openxmlformats.org/drawingml/2006/main">
              <a:ext uri="{FF2B5EF4-FFF2-40B4-BE49-F238E27FC236}">
                <a16:creationId xmlns:a16="http://schemas.microsoft.com/office/drawing/2014/main" id="{58B4E639-D736-48A2-8C3A-5A7685A06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43300"/>
            <a:ext cx="1047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安全视频</a:t>
            </a:r>
          </a:p>
        </p:txBody>
      </p:sp>
      <p:sp>
        <p:nvSpPr>
          <p:cNvPr id="10" name="dgx-420-v">
            <a:extLst xmlns:a="http://schemas.openxmlformats.org/drawingml/2006/main">
              <a:ext uri="{FF2B5EF4-FFF2-40B4-BE49-F238E27FC236}">
                <a16:creationId xmlns:a16="http://schemas.microsoft.com/office/drawing/2014/main" id="{DE6F90F0-5601-4603-8768-C9D8F0129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2857500"/>
            <a:ext cx="142875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050505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420</a:t>
            </a:r>
          </a:p>
        </p:txBody>
      </p:sp>
      <p:sp>
        <p:nvSpPr>
          <p:cNvPr id="11" name="dgx-420-l">
            <a:extLst xmlns:a="http://schemas.openxmlformats.org/drawingml/2006/main">
              <a:ext uri="{FF2B5EF4-FFF2-40B4-BE49-F238E27FC236}">
                <a16:creationId xmlns:a16="http://schemas.microsoft.com/office/drawing/2014/main" id="{C3FAAB85-3F55-4A48-BBE4-394E3190F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3543300"/>
            <a:ext cx="1047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处理帧</a:t>
            </a:r>
          </a:p>
        </p:txBody>
      </p:sp>
      <p:sp>
        <p:nvSpPr>
          <p:cNvPr id="12" name="dgx-50-v">
            <a:extLst xmlns:a="http://schemas.openxmlformats.org/drawingml/2006/main">
              <a:ext uri="{FF2B5EF4-FFF2-40B4-BE49-F238E27FC236}">
                <a16:creationId xmlns:a16="http://schemas.microsoft.com/office/drawing/2014/main" id="{473E8B3D-0DB8-485A-8F6B-A6519995E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857500"/>
            <a:ext cx="9525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3D8DFF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50</a:t>
            </a:r>
          </a:p>
        </p:txBody>
      </p:sp>
      <p:sp>
        <p:nvSpPr>
          <p:cNvPr id="13" name="dgx-50-l">
            <a:extLst xmlns:a="http://schemas.openxmlformats.org/drawingml/2006/main">
              <a:ext uri="{FF2B5EF4-FFF2-40B4-BE49-F238E27FC236}">
                <a16:creationId xmlns:a16="http://schemas.microsoft.com/office/drawing/2014/main" id="{F28E4333-ADB3-4A1E-A6B6-27918A6BF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543300"/>
            <a:ext cx="1047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候选帧</a:t>
            </a:r>
          </a:p>
        </p:txBody>
      </p:sp>
      <p:sp>
        <p:nvSpPr>
          <p:cNvPr id="14" name="dgx-time">
            <a:extLst xmlns:a="http://schemas.openxmlformats.org/drawingml/2006/main">
              <a:ext uri="{FF2B5EF4-FFF2-40B4-BE49-F238E27FC236}">
                <a16:creationId xmlns:a16="http://schemas.microsoft.com/office/drawing/2014/main" id="{0C1FA33C-DA0E-460B-BD7A-3B6D72629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57650"/>
            <a:ext cx="333375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5" name="dgx-time-v">
            <a:extLst xmlns:a="http://schemas.openxmlformats.org/drawingml/2006/main">
              <a:ext uri="{FF2B5EF4-FFF2-40B4-BE49-F238E27FC236}">
                <a16:creationId xmlns:a16="http://schemas.microsoft.com/office/drawing/2014/main" id="{893E91FC-8436-4804-9959-5CCBDDA1C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219575"/>
            <a:ext cx="1524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50505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13.134秒</a:t>
            </a:r>
          </a:p>
        </p:txBody>
      </p:sp>
      <p:sp>
        <p:nvSpPr>
          <p:cNvPr id="16" name="dgx-time-l">
            <a:extLst xmlns:a="http://schemas.openxmlformats.org/drawingml/2006/main">
              <a:ext uri="{FF2B5EF4-FFF2-40B4-BE49-F238E27FC236}">
                <a16:creationId xmlns:a16="http://schemas.microsoft.com/office/drawing/2014/main" id="{5769FF0B-CD57-48C0-BC49-9898B33C3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4267200"/>
            <a:ext cx="13525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端到端计算</a:t>
            </a:r>
          </a:p>
        </p:txBody>
      </p:sp>
      <p:sp>
        <p:nvSpPr>
          <p:cNvPr id="17" name="dgx-stack">
            <a:extLst xmlns:a="http://schemas.openxmlformats.org/drawingml/2006/main">
              <a:ext uri="{FF2B5EF4-FFF2-40B4-BE49-F238E27FC236}">
                <a16:creationId xmlns:a16="http://schemas.microsoft.com/office/drawing/2014/main" id="{7A324F5E-A81C-45E7-A505-B13F1B0BD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33337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18" name="dgx-stack-t">
            <a:extLst xmlns:a="http://schemas.openxmlformats.org/drawingml/2006/main">
              <a:ext uri="{FF2B5EF4-FFF2-40B4-BE49-F238E27FC236}">
                <a16:creationId xmlns:a16="http://schemas.microsoft.com/office/drawing/2014/main" id="{180C2973-4717-45BB-A8E7-85444D962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991100"/>
            <a:ext cx="299085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3233A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原生 Python + FFmpeg + CUDA</a:t>
            </a:r>
          </a:p>
        </p:txBody>
      </p:sp>
      <p:sp>
        <p:nvSpPr>
          <p:cNvPr id="19" name="dgx-shot-frame">
            <a:extLst xmlns:a="http://schemas.openxmlformats.org/drawingml/2006/main">
              <a:ext uri="{FF2B5EF4-FFF2-40B4-BE49-F238E27FC236}">
                <a16:creationId xmlns:a16="http://schemas.microsoft.com/office/drawing/2014/main" id="{5155423E-4D21-493C-A1C5-6289B687C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409700"/>
            <a:ext cx="6877050" cy="4210050"/>
          </a:xfrm>
          <a:prstGeom xmlns:a="http://schemas.openxmlformats.org/drawingml/2006/main" prst="roundRect">
            <a:avLst>
              <a:gd name="adj" fmla="val 2715"/>
            </a:avLst>
          </a:prstGeom>
          <a:solidFill xmlns:a="http://schemas.openxmlformats.org/drawingml/2006/main">
            <a:srgbClr val="0B1713"/>
          </a:solidFill>
          <a:ln xmlns:a="http://schemas.openxmlformats.org/drawingml/2006/main" w="0">
            <a:solidFill>
              <a:srgbClr val="0B1713"/>
            </a:solidFill>
            <a:prstDash val="solid"/>
          </a:ln>
        </p:spPr>
      </p:sp>
      <p:pic>
        <p:nvPicPr>
          <p:cNvPr id="47" name="DGX Web计算报告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14c4174f1e4dd7"/>
          <a:srcRect xmlns:a="http://schemas.openxmlformats.org/drawingml/2006/main" l="0" t="3843" r="0" b="384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895850" y="1409700"/>
            <a:ext cx="6877050" cy="4210050"/>
          </a:xfrm>
          <a:prstGeom xmlns:a="http://schemas.openxmlformats.org/drawingml/2006/main" prst="roundRect">
            <a:avLst>
              <a:gd name="adj" fmla="val 2715"/>
            </a:avLst>
          </a:prstGeom>
        </p:spPr>
      </p:pic>
      <p:sp>
        <p:nvSpPr>
          <p:cNvPr id="21" name="dgx-boundary">
            <a:extLst xmlns:a="http://schemas.openxmlformats.org/drawingml/2006/main">
              <a:ext uri="{FF2B5EF4-FFF2-40B4-BE49-F238E27FC236}">
                <a16:creationId xmlns:a16="http://schemas.microsoft.com/office/drawing/2014/main" id="{84DECEF9-681F-4474-ADBC-48A282907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848350"/>
            <a:ext cx="11353800" cy="38100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13233A"/>
          </a:solidFill>
          <a:ln xmlns:a="http://schemas.openxmlformats.org/drawingml/2006/main" w="0">
            <a:solidFill>
              <a:srgbClr val="13233A"/>
            </a:solidFill>
            <a:prstDash val="solid"/>
          </a:ln>
        </p:spPr>
      </p:sp>
      <p:sp>
        <p:nvSpPr>
          <p:cNvPr id="22" name="dgx-boundary-t">
            <a:extLst xmlns:a="http://schemas.openxmlformats.org/drawingml/2006/main">
              <a:ext uri="{FF2B5EF4-FFF2-40B4-BE49-F238E27FC236}">
                <a16:creationId xmlns:a16="http://schemas.microsoft.com/office/drawing/2014/main" id="{0C3906EA-C45C-40CA-AB33-E51705DA6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43600"/>
            <a:ext cx="109728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候选筛选 ≠ 语义结论  ·  P0无需Docker  ·  Docker仅在部署本地GPU模型或VSS时处理</a:t>
            </a:r>
          </a:p>
        </p:txBody>
      </p:sp>
      <p:sp>
        <p:nvSpPr>
          <p:cNvPr id="23" name="footer-line-6">
            <a:extLst xmlns:a="http://schemas.openxmlformats.org/drawingml/2006/main">
              <a:ext uri="{FF2B5EF4-FFF2-40B4-BE49-F238E27FC236}">
                <a16:creationId xmlns:a16="http://schemas.microsoft.com/office/drawing/2014/main" id="{643E3EF4-27A9-41F3-AA39-616EFE353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11353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E0"/>
          </a:solidFill>
          <a:ln xmlns:a="http://schemas.openxmlformats.org/drawingml/2006/main" w="0">
            <a:solidFill>
              <a:srgbClr val="D7DAE0"/>
            </a:solidFill>
            <a:prstDash val="solid"/>
          </a:ln>
        </p:spPr>
      </p:sp>
      <p:sp>
        <p:nvSpPr>
          <p:cNvPr id="24" name="footer-source-6">
            <a:extLst xmlns:a="http://schemas.openxmlformats.org/drawingml/2006/main">
              <a:ext uri="{FF2B5EF4-FFF2-40B4-BE49-F238E27FC236}">
                <a16:creationId xmlns:a16="http://schemas.microsoft.com/office/drawing/2014/main" id="{6C41DC17-E649-46F2-B6DE-9C227983F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543675"/>
            <a:ext cx="10287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来源：DGX Spark原生CUDA视觉计算报告 v1</a:t>
            </a:r>
          </a:p>
        </p:txBody>
      </p:sp>
      <p:sp>
        <p:nvSpPr>
          <p:cNvPr id="25" name="footer-page-6">
            <a:extLst xmlns:a="http://schemas.openxmlformats.org/drawingml/2006/main">
              <a:ext uri="{FF2B5EF4-FFF2-40B4-BE49-F238E27FC236}">
                <a16:creationId xmlns:a16="http://schemas.microsoft.com/office/drawing/2014/main" id="{013D2AD6-49D5-4FB0-98FA-44BC8FA18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43675"/>
            <a:ext cx="5334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6/8</a:t>
            </a:r>
          </a:p>
        </p:txBody>
      </p:sp>
    </p:spTree>
    <p:extLst>
      <p:ext uri="{BB962C8B-B14F-4D97-AF65-F5344CB8AC3E}">
        <p14:creationId xmlns:p14="http://schemas.microsoft.com/office/powerpoint/2010/main" val="67257797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kicker-7">
            <a:extLst xmlns:a="http://schemas.openxmlformats.org/drawingml/2006/main">
              <a:ext uri="{FF2B5EF4-FFF2-40B4-BE49-F238E27FC236}">
                <a16:creationId xmlns:a16="http://schemas.microsoft.com/office/drawing/2014/main" id="{2E79C704-4084-4AF6-98DC-9B3CE5F8A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85750"/>
            <a:ext cx="5905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D8DFF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MEASURED ON OPERATOR-REVIEWED GOLD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B672517F-A56A-481B-993F-18F9F531C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42925"/>
            <a:ext cx="106680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050505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错误5→0，覆盖率90%→100%</a:t>
            </a:r>
          </a:p>
        </p:txBody>
      </p:sp>
      <p:sp>
        <p:nvSpPr>
          <p:cNvPr id="3" name="number-7">
            <a:extLst xmlns:a="http://schemas.openxmlformats.org/drawingml/2006/main">
              <a:ext uri="{FF2B5EF4-FFF2-40B4-BE49-F238E27FC236}">
                <a16:creationId xmlns:a16="http://schemas.microsoft.com/office/drawing/2014/main" id="{76A8A68F-9722-4A82-B6C7-3EB591042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23850"/>
            <a:ext cx="533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07</a:t>
            </a:r>
          </a:p>
        </p:txBody>
      </p:sp>
      <p:sp>
        <p:nvSpPr>
          <p:cNvPr id="4" name="chart-bg">
            <a:extLst xmlns:a="http://schemas.openxmlformats.org/drawingml/2006/main">
              <a:ext uri="{FF2B5EF4-FFF2-40B4-BE49-F238E27FC236}">
                <a16:creationId xmlns:a16="http://schemas.microsoft.com/office/drawing/2014/main" id="{66523B57-DDFB-4D1A-8FFD-37D92BE55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66850"/>
            <a:ext cx="4705350" cy="3600450"/>
          </a:xfrm>
          <a:prstGeom xmlns:a="http://schemas.openxmlformats.org/drawingml/2006/main" prst="roundRect">
            <a:avLst>
              <a:gd name="adj" fmla="val 3175"/>
            </a:avLst>
          </a:prstGeom>
          <a:solidFill xmlns:a="http://schemas.openxmlformats.org/drawingml/2006/main">
            <a:srgbClr val="F2F3F5"/>
          </a:solidFill>
          <a:ln xmlns:a="http://schemas.openxmlformats.org/drawingml/2006/main" w="0">
            <a:solidFill>
              <a:srgbClr val="F2F3F5"/>
            </a:solidFill>
            <a:prstDash val="solid"/>
          </a:ln>
        </p:spPr>
      </p:sp>
      <p:sp>
        <p:nvSpPr>
          <p:cNvPr id="5" name="chart-label">
            <a:extLst xmlns:a="http://schemas.openxmlformats.org/drawingml/2006/main">
              <a:ext uri="{FF2B5EF4-FFF2-40B4-BE49-F238E27FC236}">
                <a16:creationId xmlns:a16="http://schemas.microsoft.com/office/drawing/2014/main" id="{CEAEB166-96A7-4E60-9E5A-F7E4FE530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76400"/>
            <a:ext cx="2286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严重错误数量</a:t>
            </a:r>
          </a:p>
        </p:txBody>
      </p:sp>
      <p:sp>
        <p:nvSpPr>
          <p:cNvPr id="6" name="result-card-1">
            <a:extLst xmlns:a="http://schemas.openxmlformats.org/drawingml/2006/main">
              <a:ext uri="{FF2B5EF4-FFF2-40B4-BE49-F238E27FC236}">
                <a16:creationId xmlns:a16="http://schemas.microsoft.com/office/drawing/2014/main" id="{B05C1A90-D273-4ADC-9F45-C48F1057F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466850"/>
            <a:ext cx="2952750" cy="16573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7" name="result-card-2">
            <a:extLst xmlns:a="http://schemas.openxmlformats.org/drawingml/2006/main">
              <a:ext uri="{FF2B5EF4-FFF2-40B4-BE49-F238E27FC236}">
                <a16:creationId xmlns:a16="http://schemas.microsoft.com/office/drawing/2014/main" id="{102796EB-1161-4F0E-90C3-D66938A15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466850"/>
            <a:ext cx="3181350" cy="16573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8" name="result-card-1-v">
            <a:extLst xmlns:a="http://schemas.openxmlformats.org/drawingml/2006/main">
              <a:ext uri="{FF2B5EF4-FFF2-40B4-BE49-F238E27FC236}">
                <a16:creationId xmlns:a16="http://schemas.microsoft.com/office/drawing/2014/main" id="{568E04DA-3ED7-4D64-B11D-90E7A2790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1809750"/>
            <a:ext cx="24955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050505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90% → 100%</a:t>
            </a:r>
          </a:p>
        </p:txBody>
      </p:sp>
      <p:sp>
        <p:nvSpPr>
          <p:cNvPr id="9" name="result-card-1-l">
            <a:extLst xmlns:a="http://schemas.openxmlformats.org/drawingml/2006/main">
              <a:ext uri="{FF2B5EF4-FFF2-40B4-BE49-F238E27FC236}">
                <a16:creationId xmlns:a16="http://schemas.microsoft.com/office/drawing/2014/main" id="{B7C818A0-D767-47D0-801C-FF1756C98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400300"/>
            <a:ext cx="24955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必要步骤覆盖</a:t>
            </a:r>
          </a:p>
        </p:txBody>
      </p:sp>
      <p:sp>
        <p:nvSpPr>
          <p:cNvPr id="10" name="result-card-2-v">
            <a:extLst xmlns:a="http://schemas.openxmlformats.org/drawingml/2006/main">
              <a:ext uri="{FF2B5EF4-FFF2-40B4-BE49-F238E27FC236}">
                <a16:creationId xmlns:a16="http://schemas.microsoft.com/office/drawing/2014/main" id="{396498C5-0163-4DBB-BFFA-D47099EF2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1809750"/>
            <a:ext cx="27241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050505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90% → 100%</a:t>
            </a:r>
          </a:p>
        </p:txBody>
      </p:sp>
      <p:sp>
        <p:nvSpPr>
          <p:cNvPr id="11" name="result-card-2-l">
            <a:extLst xmlns:a="http://schemas.openxmlformats.org/drawingml/2006/main">
              <a:ext uri="{FF2B5EF4-FFF2-40B4-BE49-F238E27FC236}">
                <a16:creationId xmlns:a16="http://schemas.microsoft.com/office/drawing/2014/main" id="{CC6D38B7-6324-4E81-A899-05556E7A5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400300"/>
            <a:ext cx="27241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证据覆盖</a:t>
            </a:r>
          </a:p>
        </p:txBody>
      </p:sp>
      <p:sp>
        <p:nvSpPr>
          <p:cNvPr id="12" name="result-tests">
            <a:extLst xmlns:a="http://schemas.openxmlformats.org/drawingml/2006/main">
              <a:ext uri="{FF2B5EF4-FFF2-40B4-BE49-F238E27FC236}">
                <a16:creationId xmlns:a16="http://schemas.microsoft.com/office/drawing/2014/main" id="{DE8D5C54-F0DF-4387-AF57-51BDD7AD6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333750"/>
            <a:ext cx="63436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3" name="result-tests-v">
            <a:extLst xmlns:a="http://schemas.openxmlformats.org/drawingml/2006/main">
              <a:ext uri="{FF2B5EF4-FFF2-40B4-BE49-F238E27FC236}">
                <a16:creationId xmlns:a16="http://schemas.microsoft.com/office/drawing/2014/main" id="{68E9C275-A8F3-45B5-B78B-1C9C2FF58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476625"/>
            <a:ext cx="16192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FFFFF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45 / 45</a:t>
            </a:r>
          </a:p>
        </p:txBody>
      </p:sp>
      <p:sp>
        <p:nvSpPr>
          <p:cNvPr id="14" name="result-tests-l">
            <a:extLst xmlns:a="http://schemas.openxmlformats.org/drawingml/2006/main">
              <a:ext uri="{FF2B5EF4-FFF2-40B4-BE49-F238E27FC236}">
                <a16:creationId xmlns:a16="http://schemas.microsoft.com/office/drawing/2014/main" id="{C969879E-4A13-4E55-B09B-158073A09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571875"/>
            <a:ext cx="40195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FFFFF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本机与DGX自动测试（路演层新增前基线）</a:t>
            </a:r>
          </a:p>
        </p:txBody>
      </p:sp>
      <p:sp>
        <p:nvSpPr>
          <p:cNvPr id="15" name="outputs-label">
            <a:extLst xmlns:a="http://schemas.openxmlformats.org/drawingml/2006/main">
              <a:ext uri="{FF2B5EF4-FFF2-40B4-BE49-F238E27FC236}">
                <a16:creationId xmlns:a16="http://schemas.microsoft.com/office/drawing/2014/main" id="{114C1038-2B1B-4894-8876-2C5C4E65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438650"/>
            <a:ext cx="2857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同一份Gold继续生成</a:t>
            </a:r>
          </a:p>
        </p:txBody>
      </p:sp>
      <p:sp>
        <p:nvSpPr>
          <p:cNvPr id="16" name="output-sop">
            <a:extLst xmlns:a="http://schemas.openxmlformats.org/drawingml/2006/main">
              <a:ext uri="{FF2B5EF4-FFF2-40B4-BE49-F238E27FC236}">
                <a16:creationId xmlns:a16="http://schemas.microsoft.com/office/drawing/2014/main" id="{DE14B265-1179-458A-99A1-B846023D6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800600"/>
            <a:ext cx="1428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2F3F5"/>
          </a:solidFill>
          <a:ln xmlns:a="http://schemas.openxmlformats.org/drawingml/2006/main" w="0">
            <a:solidFill>
              <a:srgbClr val="F2F3F5"/>
            </a:solidFill>
            <a:prstDash val="solid"/>
          </a:ln>
        </p:spPr>
      </p:sp>
      <p:sp>
        <p:nvSpPr>
          <p:cNvPr id="17" name="output-check">
            <a:extLst xmlns:a="http://schemas.openxmlformats.org/drawingml/2006/main">
              <a:ext uri="{FF2B5EF4-FFF2-40B4-BE49-F238E27FC236}">
                <a16:creationId xmlns:a16="http://schemas.microsoft.com/office/drawing/2014/main" id="{F5D1AECB-95F8-45B1-BA3C-5C57C2D6C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800600"/>
            <a:ext cx="1428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2F3F5"/>
          </a:solidFill>
          <a:ln xmlns:a="http://schemas.openxmlformats.org/drawingml/2006/main" w="0">
            <a:solidFill>
              <a:srgbClr val="F2F3F5"/>
            </a:solidFill>
            <a:prstDash val="solid"/>
          </a:ln>
        </p:spPr>
      </p:sp>
      <p:sp>
        <p:nvSpPr>
          <p:cNvPr id="18" name="output-quiz">
            <a:extLst xmlns:a="http://schemas.openxmlformats.org/drawingml/2006/main">
              <a:ext uri="{FF2B5EF4-FFF2-40B4-BE49-F238E27FC236}">
                <a16:creationId xmlns:a16="http://schemas.microsoft.com/office/drawing/2014/main" id="{E056ACE8-A204-4E9C-A7B5-1FC1F2C94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800600"/>
            <a:ext cx="1428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2F3F5"/>
          </a:solidFill>
          <a:ln xmlns:a="http://schemas.openxmlformats.org/drawingml/2006/main" w="0">
            <a:solidFill>
              <a:srgbClr val="F2F3F5"/>
            </a:solidFill>
            <a:prstDash val="solid"/>
          </a:ln>
        </p:spPr>
      </p:sp>
      <p:sp>
        <p:nvSpPr>
          <p:cNvPr id="19" name="output-media">
            <a:extLst xmlns:a="http://schemas.openxmlformats.org/drawingml/2006/main">
              <a:ext uri="{FF2B5EF4-FFF2-40B4-BE49-F238E27FC236}">
                <a16:creationId xmlns:a16="http://schemas.microsoft.com/office/drawing/2014/main" id="{F2144614-3359-44B5-95F3-2977EEF51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4800600"/>
            <a:ext cx="160020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2F3F5"/>
          </a:solidFill>
          <a:ln xmlns:a="http://schemas.openxmlformats.org/drawingml/2006/main" w="0">
            <a:solidFill>
              <a:srgbClr val="F2F3F5"/>
            </a:solidFill>
            <a:prstDash val="solid"/>
          </a:ln>
        </p:spPr>
      </p:sp>
      <p:sp>
        <p:nvSpPr>
          <p:cNvPr id="20" name="output-sop-t">
            <a:extLst xmlns:a="http://schemas.openxmlformats.org/drawingml/2006/main">
              <a:ext uri="{FF2B5EF4-FFF2-40B4-BE49-F238E27FC236}">
                <a16:creationId xmlns:a16="http://schemas.microsoft.com/office/drawing/2014/main" id="{86C06116-53D9-4C34-8CCF-38DCEC1AC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991100"/>
            <a:ext cx="11620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050505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13步 SOP</a:t>
            </a:r>
          </a:p>
        </p:txBody>
      </p:sp>
      <p:sp>
        <p:nvSpPr>
          <p:cNvPr id="21" name="output-check-t">
            <a:extLst xmlns:a="http://schemas.openxmlformats.org/drawingml/2006/main">
              <a:ext uri="{FF2B5EF4-FFF2-40B4-BE49-F238E27FC236}">
                <a16:creationId xmlns:a16="http://schemas.microsoft.com/office/drawing/2014/main" id="{3DE72740-24B0-4742-B218-DB802472C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991100"/>
            <a:ext cx="11620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050505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13项清单</a:t>
            </a:r>
          </a:p>
        </p:txBody>
      </p:sp>
      <p:sp>
        <p:nvSpPr>
          <p:cNvPr id="22" name="output-quiz-t">
            <a:extLst xmlns:a="http://schemas.openxmlformats.org/drawingml/2006/main">
              <a:ext uri="{FF2B5EF4-FFF2-40B4-BE49-F238E27FC236}">
                <a16:creationId xmlns:a16="http://schemas.microsoft.com/office/drawing/2014/main" id="{A223412F-9551-45A1-982C-4F77A6A7A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991100"/>
            <a:ext cx="11620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050505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5题测验</a:t>
            </a:r>
          </a:p>
        </p:txBody>
      </p:sp>
      <p:sp>
        <p:nvSpPr>
          <p:cNvPr id="23" name="output-media-t">
            <a:extLst xmlns:a="http://schemas.openxmlformats.org/drawingml/2006/main">
              <a:ext uri="{FF2B5EF4-FFF2-40B4-BE49-F238E27FC236}">
                <a16:creationId xmlns:a16="http://schemas.microsoft.com/office/drawing/2014/main" id="{723EBA0F-7E1B-4090-916D-A84F6941B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4991100"/>
            <a:ext cx="14097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50505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海报 + 80秒视频</a:t>
            </a:r>
          </a:p>
        </p:txBody>
      </p:sp>
      <p:pic>
        <p:nvPicPr>
          <p:cNvPr id="55" name="训练视频十五镜头成果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a78a9aa09a47c1"/>
          <a:srcRect xmlns:a="http://schemas.openxmlformats.org/drawingml/2006/main" l="0" t="31828" r="0" b="3182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19100" y="5257800"/>
            <a:ext cx="4705350" cy="97155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5" name="footer-line-7">
            <a:extLst xmlns:a="http://schemas.openxmlformats.org/drawingml/2006/main">
              <a:ext uri="{FF2B5EF4-FFF2-40B4-BE49-F238E27FC236}">
                <a16:creationId xmlns:a16="http://schemas.microsoft.com/office/drawing/2014/main" id="{BE521897-DC65-40B2-A625-28374DA9A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11353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E0"/>
          </a:solidFill>
          <a:ln xmlns:a="http://schemas.openxmlformats.org/drawingml/2006/main" w="0">
            <a:solidFill>
              <a:srgbClr val="D7DAE0"/>
            </a:solidFill>
            <a:prstDash val="solid"/>
          </a:ln>
        </p:spPr>
      </p:sp>
      <p:sp>
        <p:nvSpPr>
          <p:cNvPr id="26" name="footer-source-7">
            <a:extLst xmlns:a="http://schemas.openxmlformats.org/drawingml/2006/main">
              <a:ext uri="{FF2B5EF4-FFF2-40B4-BE49-F238E27FC236}">
                <a16:creationId xmlns:a16="http://schemas.microsoft.com/office/drawing/2014/main" id="{75BB3BB2-FF21-4BF8-91B4-71578B8F1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543675"/>
            <a:ext cx="10287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来源：N31 Gold summary、多源评测、培训成果清单与测试记录</a:t>
            </a:r>
          </a:p>
        </p:txBody>
      </p:sp>
      <p:sp>
        <p:nvSpPr>
          <p:cNvPr id="27" name="footer-page-7">
            <a:extLst xmlns:a="http://schemas.openxmlformats.org/drawingml/2006/main">
              <a:ext uri="{FF2B5EF4-FFF2-40B4-BE49-F238E27FC236}">
                <a16:creationId xmlns:a16="http://schemas.microsoft.com/office/drawing/2014/main" id="{8D62E50D-76DD-4F60-AF28-D47CF4701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43675"/>
            <a:ext cx="5334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7/8</a:t>
            </a:r>
          </a:p>
        </p:txBody>
      </p:sp>
      <p:graphicFrame>
        <p:nvGraphicFramePr>
          <p:cNvPr id="59" name="Chart"/>
          <p:cNvGraphicFramePr/>
          <p:nvPr/>
        </p:nvGraphicFramePr>
        <p:xfrm>
          <a:off xmlns:a="http://schemas.openxmlformats.org/drawingml/2006/main" x="685800" y="2095500"/>
          <a:ext xmlns:a="http://schemas.openxmlformats.org/drawingml/2006/main" cx="4133850" cy="27241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52f5d8db91b4a56"/>
          </a:graphicData>
        </a:graphic>
      </p:graphicFrame>
    </p:spTree>
    <p:extLst>
      <p:ext uri="{BB962C8B-B14F-4D97-AF65-F5344CB8AC3E}">
        <p14:creationId xmlns:p14="http://schemas.microsoft.com/office/powerpoint/2010/main" val="22247187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closing-accent">
            <a:extLst xmlns:a="http://schemas.openxmlformats.org/drawingml/2006/main">
              <a:ext uri="{FF2B5EF4-FFF2-40B4-BE49-F238E27FC236}">
                <a16:creationId xmlns:a16="http://schemas.microsoft.com/office/drawing/2014/main" id="{2EE1E5E9-2908-4DA5-B72E-D961E8B96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19100"/>
            <a:ext cx="112395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2" name="closing-kicker">
            <a:extLst xmlns:a="http://schemas.openxmlformats.org/drawingml/2006/main">
              <a:ext uri="{FF2B5EF4-FFF2-40B4-BE49-F238E27FC236}">
                <a16:creationId xmlns:a16="http://schemas.microsoft.com/office/drawing/2014/main" id="{0D44F1A3-60B9-4588-9251-68FF5692D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781050"/>
            <a:ext cx="3429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D8DFF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SKILLFORGE · 匠传</a:t>
            </a:r>
          </a:p>
        </p:txBody>
      </p:sp>
      <p:sp>
        <p:nvSpPr>
          <p:cNvPr id="3" name="closing-title">
            <a:extLst xmlns:a="http://schemas.openxmlformats.org/drawingml/2006/main">
              <a:ext uri="{FF2B5EF4-FFF2-40B4-BE49-F238E27FC236}">
                <a16:creationId xmlns:a16="http://schemas.microsoft.com/office/drawing/2014/main" id="{78BE465B-871D-46E6-BA88-44F2CA23E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504950"/>
            <a:ext cx="8382000" cy="3000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850" b="1">
                <a:solidFill>
                  <a:srgbClr val="050505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不是生成更多内容，
而是让内容
能被相信。</a:t>
            </a:r>
          </a:p>
        </p:txBody>
      </p:sp>
      <p:sp>
        <p:nvSpPr>
          <p:cNvPr id="4" name="closing-values">
            <a:extLst xmlns:a="http://schemas.openxmlformats.org/drawingml/2006/main">
              <a:ext uri="{FF2B5EF4-FFF2-40B4-BE49-F238E27FC236}">
                <a16:creationId xmlns:a16="http://schemas.microsoft.com/office/drawing/2014/main" id="{08787F87-A800-497C-B715-83275E5B9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1447800"/>
            <a:ext cx="2876550" cy="3486150"/>
          </a:xfrm>
          <a:prstGeom xmlns:a="http://schemas.openxmlformats.org/drawingml/2006/main" prst="roundRect">
            <a:avLst>
              <a:gd name="adj" fmla="val 3974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5" name="closing-values-k">
            <a:extLst xmlns:a="http://schemas.openxmlformats.org/drawingml/2006/main">
              <a:ext uri="{FF2B5EF4-FFF2-40B4-BE49-F238E27FC236}">
                <a16:creationId xmlns:a16="http://schemas.microsoft.com/office/drawing/2014/main" id="{B8A888ED-8CF2-4D31-917C-2A0B3C903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1724025"/>
            <a:ext cx="23431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D8DFF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FROM ONE N31 CASE</a:t>
            </a:r>
          </a:p>
        </p:txBody>
      </p:sp>
      <p:sp>
        <p:nvSpPr>
          <p:cNvPr id="6" name="closing-values-t">
            <a:extLst xmlns:a="http://schemas.openxmlformats.org/drawingml/2006/main">
              <a:ext uri="{FF2B5EF4-FFF2-40B4-BE49-F238E27FC236}">
                <a16:creationId xmlns:a16="http://schemas.microsoft.com/office/drawing/2014/main" id="{388186F5-E0CE-44D1-B46A-55DACBC2A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190750"/>
            <a:ext cx="23431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050505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到任何设备、
任何技能</a:t>
            </a:r>
          </a:p>
        </p:txBody>
      </p:sp>
      <p:sp>
        <p:nvSpPr>
          <p:cNvPr id="7" name="closing-values-rule">
            <a:extLst xmlns:a="http://schemas.openxmlformats.org/drawingml/2006/main">
              <a:ext uri="{FF2B5EF4-FFF2-40B4-BE49-F238E27FC236}">
                <a16:creationId xmlns:a16="http://schemas.microsoft.com/office/drawing/2014/main" id="{7037FD66-71B2-4333-BFB9-1AC69E692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257550"/>
            <a:ext cx="152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8" name="closing-values-list">
            <a:extLst xmlns:a="http://schemas.openxmlformats.org/drawingml/2006/main">
              <a:ext uri="{FF2B5EF4-FFF2-40B4-BE49-F238E27FC236}">
                <a16:creationId xmlns:a16="http://schemas.microsoft.com/office/drawing/2014/main" id="{48B3FD9D-CC1B-47F8-8028-32C8D8498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562350"/>
            <a:ext cx="2343150" cy="1123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3233A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每一步可回源
每个问题可复检
每次修改可审计</a:t>
            </a:r>
          </a:p>
        </p:txBody>
      </p:sp>
      <p:sp>
        <p:nvSpPr>
          <p:cNvPr id="9" name="closing-dgx">
            <a:extLst xmlns:a="http://schemas.openxmlformats.org/drawingml/2006/main">
              <a:ext uri="{FF2B5EF4-FFF2-40B4-BE49-F238E27FC236}">
                <a16:creationId xmlns:a16="http://schemas.microsoft.com/office/drawing/2014/main" id="{83BA0850-0F97-4567-9B76-A1B1AB009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219700"/>
            <a:ext cx="113538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13233A"/>
          </a:solidFill>
          <a:ln xmlns:a="http://schemas.openxmlformats.org/drawingml/2006/main" w="0">
            <a:solidFill>
              <a:srgbClr val="13233A"/>
            </a:solidFill>
            <a:prstDash val="solid"/>
          </a:ln>
        </p:spPr>
      </p:sp>
      <p:sp>
        <p:nvSpPr>
          <p:cNvPr id="10" name="closing-dgx-main">
            <a:extLst xmlns:a="http://schemas.openxmlformats.org/drawingml/2006/main">
              <a:ext uri="{FF2B5EF4-FFF2-40B4-BE49-F238E27FC236}">
                <a16:creationId xmlns:a16="http://schemas.microsoft.com/office/drawing/2014/main" id="{27D0EAD5-8D9B-4926-888D-6EC143B9C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81625"/>
            <a:ext cx="55721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DGX Spark </a:t>
            </a:r>
            <a:r>
              <a:t>让敏感视频留在现场</a:t>
            </a:r>
          </a:p>
        </p:txBody>
      </p:sp>
      <p:sp>
        <p:nvSpPr>
          <p:cNvPr id="11" name="closing-dgx-sub">
            <a:extLst xmlns:a="http://schemas.openxmlformats.org/drawingml/2006/main">
              <a:ext uri="{FF2B5EF4-FFF2-40B4-BE49-F238E27FC236}">
                <a16:creationId xmlns:a16="http://schemas.microsoft.com/office/drawing/2014/main" id="{083E7F03-1382-4D4D-ACCA-DEB371F90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438775"/>
            <a:ext cx="4857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650" b="1">
                <a:solidFill>
                  <a:srgbClr val="6DCBF4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让专家经验成为可部署、可验证的组织能力</a:t>
            </a:r>
          </a:p>
        </p:txBody>
      </p:sp>
      <p:sp>
        <p:nvSpPr>
          <p:cNvPr id="12" name="closing-footer">
            <a:extLst xmlns:a="http://schemas.openxmlformats.org/drawingml/2006/main">
              <a:ext uri="{FF2B5EF4-FFF2-40B4-BE49-F238E27FC236}">
                <a16:creationId xmlns:a16="http://schemas.microsoft.com/office/drawing/2014/main" id="{96FE9ABD-C549-4AD8-B9C0-4B684527D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96050"/>
            <a:ext cx="97155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SkillForge 匠传 · N31 Gold v1 · 原生Python P0</a:t>
            </a:r>
          </a:p>
        </p:txBody>
      </p:sp>
      <p:sp>
        <p:nvSpPr>
          <p:cNvPr id="13" name="closing-page">
            <a:extLst xmlns:a="http://schemas.openxmlformats.org/drawingml/2006/main">
              <a:ext uri="{FF2B5EF4-FFF2-40B4-BE49-F238E27FC236}">
                <a16:creationId xmlns:a16="http://schemas.microsoft.com/office/drawing/2014/main" id="{DBB1955E-DFBD-4D8E-8F79-949FE9443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7239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08 / 08</a:t>
            </a:r>
          </a:p>
        </p:txBody>
      </p:sp>
    </p:spTree>
    <p:extLst>
      <p:ext uri="{BB962C8B-B14F-4D97-AF65-F5344CB8AC3E}">
        <p14:creationId xmlns:p14="http://schemas.microsoft.com/office/powerpoint/2010/main" val="16963235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2026-07-21T11:11:54.5620000Z</dcterms:created>
  <dcterms:modified xsi:type="dcterms:W3CDTF">2026-07-21T11:11:54.5620000Z</dcterms:modified>
</coreProperties>
</file>